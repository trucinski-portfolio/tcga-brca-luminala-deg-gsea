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sldIdLst>
    <p:sldId id="256" r:id="rId2"/>
    <p:sldId id="257" r:id="rId3"/>
    <p:sldId id="268" r:id="rId4"/>
    <p:sldId id="258" r:id="rId5"/>
    <p:sldId id="259" r:id="rId6"/>
    <p:sldId id="260" r:id="rId7"/>
    <p:sldId id="261" r:id="rId8"/>
    <p:sldId id="262" r:id="rId9"/>
    <p:sldId id="269" r:id="rId10"/>
    <p:sldId id="270" r:id="rId11"/>
    <p:sldId id="271" r:id="rId12"/>
    <p:sldId id="263" r:id="rId13"/>
    <p:sldId id="264" r:id="rId14"/>
    <p:sldId id="267" r:id="rId15"/>
    <p:sldId id="27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8F6867-515F-BA2A-2DC3-89E422E1E27E}" v="2362" dt="2025-12-02T19:51:09.080"/>
    <p1510:client id="{9E12E72D-82B2-2311-F015-2F35CEBE6B70}" v="6880" dt="2025-12-02T18:40:51.4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3"/>
    <p:restoredTop sz="94668"/>
  </p:normalViewPr>
  <p:slideViewPr>
    <p:cSldViewPr snapToGrid="0">
      <p:cViewPr varScale="1">
        <p:scale>
          <a:sx n="126" d="100"/>
          <a:sy n="126" d="100"/>
        </p:scale>
        <p:origin x="232"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12/2/25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5608156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12/2/25</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9091717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12/2/25</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1620649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12/2/25</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3535988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12/2/25</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635802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12/2/25</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9566526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12/2/25</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936883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12/2/25</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88891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12/2/25</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828486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12/2/25</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4453104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12/2/25</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0927137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12/2/25</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3854925"/>
      </p:ext>
    </p:extLst>
  </p:cSld>
  <p:clrMap bg1="lt1" tx1="dk1" bg2="lt2" tx2="dk2" accent1="accent1" accent2="accent2" accent3="accent3" accent4="accent4" accent5="accent5" accent6="accent6" hlink="hlink" folHlink="folHlink"/>
  <p:sldLayoutIdLst>
    <p:sldLayoutId id="2147483743" r:id="rId1"/>
    <p:sldLayoutId id="2147483742" r:id="rId2"/>
    <p:sldLayoutId id="2147483741" r:id="rId3"/>
    <p:sldLayoutId id="2147483740" r:id="rId4"/>
    <p:sldLayoutId id="2147483739" r:id="rId5"/>
    <p:sldLayoutId id="2147483738" r:id="rId6"/>
    <p:sldLayoutId id="2147483737" r:id="rId7"/>
    <p:sldLayoutId id="2147483736" r:id="rId8"/>
    <p:sldLayoutId id="2147483735" r:id="rId9"/>
    <p:sldLayoutId id="2147483734" r:id="rId10"/>
    <p:sldLayoutId id="2147483733"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hyperlink" Target="https://pubmed.ncbi.nlm.nih.gov/32026945/" TargetMode="External"/><Relationship Id="rId3" Type="http://schemas.openxmlformats.org/officeDocument/2006/relationships/hyperlink" Target="https://pmc.ncbi.nlm.nih.gov/articles/PMC8266316/" TargetMode="External"/><Relationship Id="rId7" Type="http://schemas.openxmlformats.org/officeDocument/2006/relationships/hyperlink" Target="https://pmc.ncbi.nlm.nih.gov/articles/PMC12011706/" TargetMode="External"/><Relationship Id="rId2" Type="http://schemas.openxmlformats.org/officeDocument/2006/relationships/hyperlink" Target="https://www.cancer.org/content/dam/cancer-org/research/cancer-facts-and-statistics/breast-cancer-facts-and-figures/2024/breast-cancer-facts-and-figures-2024.pdf" TargetMode="External"/><Relationship Id="rId1" Type="http://schemas.openxmlformats.org/officeDocument/2006/relationships/slideLayout" Target="../slideLayouts/slideLayout2.xml"/><Relationship Id="rId6" Type="http://schemas.openxmlformats.org/officeDocument/2006/relationships/hyperlink" Target="https://www.cancerimagingarchive.net/collection/tcga-brca/" TargetMode="External"/><Relationship Id="rId5" Type="http://schemas.openxmlformats.org/officeDocument/2006/relationships/hyperlink" Target="https://link.springer.com/article/10.1186/1755-8794-5-44" TargetMode="External"/><Relationship Id="rId4" Type="http://schemas.openxmlformats.org/officeDocument/2006/relationships/hyperlink" Target="https://www.sciencedirect.com/science/article/pii/S2666979X21000835" TargetMode="External"/></Relationships>
</file>

<file path=ppt/slides/_rels/slide15.xml.rels><?xml version="1.0" encoding="UTF-8" standalone="yes"?>
<Relationships xmlns="http://schemas.openxmlformats.org/package/2006/relationships"><Relationship Id="rId2" Type="http://schemas.openxmlformats.org/officeDocument/2006/relationships/hyperlink" Target="https://github.com/trucinski-portfolio/BIOL-616-Final-Project"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80B98925-0550-1AFB-C1DC-02792400FB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pic>
        <p:nvPicPr>
          <p:cNvPr id="19" name="Picture 18" descr="Abstract smoke background">
            <a:extLst>
              <a:ext uri="{FF2B5EF4-FFF2-40B4-BE49-F238E27FC236}">
                <a16:creationId xmlns:a16="http://schemas.microsoft.com/office/drawing/2014/main" id="{9C3B58A9-38CA-1571-5B36-CD57D40DE201}"/>
              </a:ext>
            </a:extLst>
          </p:cNvPr>
          <p:cNvPicPr>
            <a:picLocks noChangeAspect="1"/>
          </p:cNvPicPr>
          <p:nvPr/>
        </p:nvPicPr>
        <p:blipFill>
          <a:blip r:embed="rId2"/>
          <a:srcRect t="1375" r="9085" b="21784"/>
          <a:stretch>
            <a:fillRect/>
          </a:stretch>
        </p:blipFill>
        <p:spPr>
          <a:xfrm>
            <a:off x="20" y="10"/>
            <a:ext cx="12191979" cy="6857990"/>
          </a:xfrm>
          <a:prstGeom prst="rect">
            <a:avLst/>
          </a:prstGeom>
        </p:spPr>
      </p:pic>
      <p:sp>
        <p:nvSpPr>
          <p:cNvPr id="20" name="Rectangle 19">
            <a:extLst>
              <a:ext uri="{FF2B5EF4-FFF2-40B4-BE49-F238E27FC236}">
                <a16:creationId xmlns:a16="http://schemas.microsoft.com/office/drawing/2014/main" id="{0CCA9273-E74E-A306-1F74-BEF9EDA305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12192000" cy="2462170"/>
          </a:xfrm>
          <a:prstGeom prst="rect">
            <a:avLst/>
          </a:prstGeom>
          <a:gradFill>
            <a:gsLst>
              <a:gs pos="0">
                <a:schemeClr val="bg1">
                  <a:alpha val="0"/>
                </a:schemeClr>
              </a:gs>
              <a:gs pos="48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sp>
        <p:nvSpPr>
          <p:cNvPr id="2" name="Title 1"/>
          <p:cNvSpPr>
            <a:spLocks noGrp="1"/>
          </p:cNvSpPr>
          <p:nvPr>
            <p:ph type="ctrTitle"/>
          </p:nvPr>
        </p:nvSpPr>
        <p:spPr>
          <a:xfrm>
            <a:off x="1691640" y="-69014"/>
            <a:ext cx="8805700" cy="1710890"/>
          </a:xfrm>
        </p:spPr>
        <p:txBody>
          <a:bodyPr anchor="ctr">
            <a:normAutofit fontScale="90000"/>
          </a:bodyPr>
          <a:lstStyle/>
          <a:p>
            <a:pPr algn="ctr"/>
            <a:r>
              <a:rPr lang="en-US" sz="3300" b="1" cap="none">
                <a:solidFill>
                  <a:srgbClr val="002060"/>
                </a:solidFill>
                <a:latin typeface="Lucida Bright"/>
              </a:rPr>
              <a:t>Differential Gene Expression of Luminal A Invasive Ductal Carcinoma in Comparison to Unaffected Breast Tissue</a:t>
            </a:r>
            <a:endParaRPr lang="en-US" i="1">
              <a:solidFill>
                <a:srgbClr val="002060"/>
              </a:solidFill>
              <a:latin typeface="Lucida Bright"/>
            </a:endParaRPr>
          </a:p>
        </p:txBody>
      </p:sp>
      <p:sp>
        <p:nvSpPr>
          <p:cNvPr id="3" name="Subtitle 2"/>
          <p:cNvSpPr>
            <a:spLocks noGrp="1"/>
          </p:cNvSpPr>
          <p:nvPr>
            <p:ph type="subTitle" idx="1"/>
          </p:nvPr>
        </p:nvSpPr>
        <p:spPr>
          <a:xfrm>
            <a:off x="7818069" y="3803330"/>
            <a:ext cx="4374503" cy="1293118"/>
          </a:xfrm>
        </p:spPr>
        <p:txBody>
          <a:bodyPr anchor="ctr">
            <a:normAutofit/>
          </a:bodyPr>
          <a:lstStyle/>
          <a:p>
            <a:pPr algn="ctr"/>
            <a:r>
              <a:rPr lang="en-US">
                <a:solidFill>
                  <a:srgbClr val="002060"/>
                </a:solidFill>
                <a:latin typeface="Lucida Bright"/>
              </a:rPr>
              <a:t>A Transcriptomic Analysis of UCSC's Xena TCGA-BRCA Cohort</a:t>
            </a:r>
            <a:endParaRPr lang="en-US">
              <a:solidFill>
                <a:srgbClr val="002060"/>
              </a:solidFill>
              <a:latin typeface="Calisto MT"/>
            </a:endParaRPr>
          </a:p>
        </p:txBody>
      </p:sp>
      <p:sp>
        <p:nvSpPr>
          <p:cNvPr id="5" name="TextBox 4">
            <a:extLst>
              <a:ext uri="{FF2B5EF4-FFF2-40B4-BE49-F238E27FC236}">
                <a16:creationId xmlns:a16="http://schemas.microsoft.com/office/drawing/2014/main" id="{8ECEC39E-32D2-A0C8-E52D-6A15EEE72B8F}"/>
              </a:ext>
            </a:extLst>
          </p:cNvPr>
          <p:cNvSpPr txBox="1"/>
          <p:nvPr/>
        </p:nvSpPr>
        <p:spPr>
          <a:xfrm>
            <a:off x="950" y="6025572"/>
            <a:ext cx="4484914"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rgbClr val="002060"/>
                </a:solidFill>
                <a:latin typeface="Lucida Bright"/>
              </a:rPr>
              <a:t>Thomas Rucinski</a:t>
            </a:r>
          </a:p>
          <a:p>
            <a:r>
              <a:rPr lang="en-US" sz="1600">
                <a:solidFill>
                  <a:srgbClr val="002060"/>
                </a:solidFill>
                <a:latin typeface="Lucida Bright"/>
              </a:rPr>
              <a:t>Course: BIOL-616: Bioinformatics </a:t>
            </a:r>
          </a:p>
          <a:p>
            <a:r>
              <a:rPr lang="en-US" sz="1600">
                <a:solidFill>
                  <a:srgbClr val="002060"/>
                </a:solidFill>
                <a:latin typeface="Lucida Bright"/>
              </a:rPr>
              <a:t>University of Nevada, Las Vegas</a:t>
            </a:r>
          </a:p>
        </p:txBody>
      </p:sp>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3" name="Rectangle 22">
            <a:extLst>
              <a:ext uri="{FF2B5EF4-FFF2-40B4-BE49-F238E27FC236}">
                <a16:creationId xmlns:a16="http://schemas.microsoft.com/office/drawing/2014/main" id="{A7D20BF2-EB2E-6063-DD3A-ABDA963535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8CFCAC-41A2-104D-4686-CACCD269E397}"/>
              </a:ext>
            </a:extLst>
          </p:cNvPr>
          <p:cNvSpPr>
            <a:spLocks noGrp="1"/>
          </p:cNvSpPr>
          <p:nvPr>
            <p:ph type="title"/>
          </p:nvPr>
        </p:nvSpPr>
        <p:spPr>
          <a:xfrm>
            <a:off x="1287004" y="468004"/>
            <a:ext cx="4166203" cy="813320"/>
          </a:xfrm>
        </p:spPr>
        <p:txBody>
          <a:bodyPr vert="horz" lIns="91440" tIns="45720" rIns="91440" bIns="45720" rtlCol="0" anchor="t">
            <a:normAutofit/>
          </a:bodyPr>
          <a:lstStyle/>
          <a:p>
            <a:r>
              <a:rPr lang="en-US" sz="3600">
                <a:latin typeface="Lucida Bright"/>
              </a:rPr>
              <a:t>Significance</a:t>
            </a:r>
          </a:p>
        </p:txBody>
      </p:sp>
      <p:cxnSp>
        <p:nvCxnSpPr>
          <p:cNvPr id="25" name="Straight Connector 24">
            <a:extLst>
              <a:ext uri="{FF2B5EF4-FFF2-40B4-BE49-F238E27FC236}">
                <a16:creationId xmlns:a16="http://schemas.microsoft.com/office/drawing/2014/main" id="{90FB7F1C-B2F7-27EA-1F8A-D4A3232318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descr="A graph of pink and grey bars&#10;&#10;AI-generated content may be incorrect.">
            <a:extLst>
              <a:ext uri="{FF2B5EF4-FFF2-40B4-BE49-F238E27FC236}">
                <a16:creationId xmlns:a16="http://schemas.microsoft.com/office/drawing/2014/main" id="{3DF5D415-7A9C-98D8-FF42-6AD0CC05E33B}"/>
              </a:ext>
            </a:extLst>
          </p:cNvPr>
          <p:cNvPicPr>
            <a:picLocks noChangeAspect="1"/>
          </p:cNvPicPr>
          <p:nvPr/>
        </p:nvPicPr>
        <p:blipFill>
          <a:blip r:embed="rId2"/>
          <a:stretch>
            <a:fillRect/>
          </a:stretch>
        </p:blipFill>
        <p:spPr>
          <a:xfrm>
            <a:off x="131530" y="1483010"/>
            <a:ext cx="5519561" cy="3896430"/>
          </a:xfrm>
          <a:prstGeom prst="rect">
            <a:avLst/>
          </a:prstGeom>
        </p:spPr>
      </p:pic>
      <p:sp>
        <p:nvSpPr>
          <p:cNvPr id="5" name="TextBox 4">
            <a:extLst>
              <a:ext uri="{FF2B5EF4-FFF2-40B4-BE49-F238E27FC236}">
                <a16:creationId xmlns:a16="http://schemas.microsoft.com/office/drawing/2014/main" id="{795F44D6-8341-AC69-3D03-A66FF538A8E4}"/>
              </a:ext>
            </a:extLst>
          </p:cNvPr>
          <p:cNvSpPr txBox="1"/>
          <p:nvPr/>
        </p:nvSpPr>
        <p:spPr>
          <a:xfrm>
            <a:off x="129273" y="5379837"/>
            <a:ext cx="5616222"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a:solidFill>
                  <a:srgbClr val="EE3B87"/>
                </a:solidFill>
                <a:highlight>
                  <a:srgbClr val="FAF1F5"/>
                </a:highlight>
                <a:latin typeface="Bierstadt"/>
              </a:rPr>
              <a:t>Figure 1. Subtype Distribution of 1218 Breast Cancer Subtypes in TCGA-BRCA Cohort (UCSC Xena)</a:t>
            </a:r>
            <a:endParaRPr lang="en-US"/>
          </a:p>
        </p:txBody>
      </p:sp>
      <p:sp>
        <p:nvSpPr>
          <p:cNvPr id="7" name="TextBox 6">
            <a:extLst>
              <a:ext uri="{FF2B5EF4-FFF2-40B4-BE49-F238E27FC236}">
                <a16:creationId xmlns:a16="http://schemas.microsoft.com/office/drawing/2014/main" id="{7A1AEF3B-7A4F-5A46-5D84-9362D93C6E0A}"/>
              </a:ext>
            </a:extLst>
          </p:cNvPr>
          <p:cNvSpPr txBox="1"/>
          <p:nvPr/>
        </p:nvSpPr>
        <p:spPr>
          <a:xfrm>
            <a:off x="5896549" y="301732"/>
            <a:ext cx="5932349" cy="53553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dirty="0">
                <a:latin typeface="Calisto MT"/>
              </a:rPr>
              <a:t>Luminal A breast cancer is the most common PAM50-subtype according to the American Cancer Society (2024).</a:t>
            </a:r>
          </a:p>
          <a:p>
            <a:pPr marL="285750" indent="-285750">
              <a:buFont typeface="Arial"/>
              <a:buChar char="•"/>
            </a:pPr>
            <a:endParaRPr lang="en-US">
              <a:latin typeface="Calisto MT"/>
            </a:endParaRPr>
          </a:p>
          <a:p>
            <a:pPr marL="285750" indent="-285750">
              <a:buFont typeface="Arial"/>
              <a:buChar char="•"/>
            </a:pPr>
            <a:r>
              <a:rPr lang="en-US" dirty="0">
                <a:latin typeface="Calisto MT"/>
              </a:rPr>
              <a:t>The TCGA-BRCA Cohort within UCSC's Xena database has 47.7% of all 1218 samples diagnosed as Luminal A.</a:t>
            </a:r>
          </a:p>
          <a:p>
            <a:pPr marL="285750" indent="-285750">
              <a:buFont typeface="Arial"/>
              <a:buChar char="•"/>
            </a:pPr>
            <a:endParaRPr lang="en-US">
              <a:latin typeface="Calisto MT"/>
            </a:endParaRPr>
          </a:p>
          <a:p>
            <a:pPr marL="285750" indent="-285750">
              <a:buFont typeface="Arial"/>
              <a:buChar char="•"/>
            </a:pPr>
            <a:r>
              <a:rPr lang="en-US" dirty="0">
                <a:latin typeface="Calisto MT"/>
              </a:rPr>
              <a:t>Luminal A is considered the most favorable diagnosis compared to other PAM50-subtypes, however patient outcomes vary. </a:t>
            </a:r>
          </a:p>
          <a:p>
            <a:pPr marL="285750" indent="-285750">
              <a:buFont typeface="Arial"/>
              <a:buChar char="•"/>
            </a:pPr>
            <a:endParaRPr lang="en-US">
              <a:latin typeface="Calisto MT"/>
            </a:endParaRPr>
          </a:p>
          <a:p>
            <a:pPr marL="285750" indent="-285750">
              <a:buFont typeface="Arial"/>
              <a:buChar char="•"/>
            </a:pPr>
            <a:r>
              <a:rPr lang="en-US" dirty="0">
                <a:latin typeface="Calisto MT"/>
              </a:rPr>
              <a:t>While hormonal drivers are well defined (HR+ vs HR-), the suppression of specific metabolic pathways is often overshadowed by proliferative and hormonal pathways.</a:t>
            </a:r>
          </a:p>
          <a:p>
            <a:pPr marL="285750" indent="-285750">
              <a:buFont typeface="Arial"/>
              <a:buChar char="•"/>
            </a:pPr>
            <a:endParaRPr lang="en-US">
              <a:latin typeface="Calisto MT"/>
            </a:endParaRPr>
          </a:p>
          <a:p>
            <a:pPr marL="285750" indent="-285750">
              <a:buFont typeface="Arial"/>
              <a:buChar char="•"/>
            </a:pPr>
            <a:r>
              <a:rPr lang="en-US" dirty="0">
                <a:latin typeface="Calisto MT"/>
              </a:rPr>
              <a:t>Little to no research in pathway dysregulation and etiology for Luminal A invasive ductal carcinoma (IDC) samples compared to unaffected breast tissue.</a:t>
            </a:r>
          </a:p>
        </p:txBody>
      </p:sp>
    </p:spTree>
    <p:extLst>
      <p:ext uri="{BB962C8B-B14F-4D97-AF65-F5344CB8AC3E}">
        <p14:creationId xmlns:p14="http://schemas.microsoft.com/office/powerpoint/2010/main" val="10848442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8A72A-F092-B713-DFE2-ED3DB8B453AF}"/>
              </a:ext>
            </a:extLst>
          </p:cNvPr>
          <p:cNvSpPr>
            <a:spLocks noGrp="1"/>
          </p:cNvSpPr>
          <p:nvPr>
            <p:ph type="title"/>
          </p:nvPr>
        </p:nvSpPr>
        <p:spPr>
          <a:xfrm>
            <a:off x="6051630" y="811330"/>
            <a:ext cx="5309269" cy="875130"/>
          </a:xfrm>
        </p:spPr>
        <p:txBody>
          <a:bodyPr vert="horz" lIns="91440" tIns="45720" rIns="91440" bIns="45720" rtlCol="0">
            <a:normAutofit fontScale="90000"/>
          </a:bodyPr>
          <a:lstStyle/>
          <a:p>
            <a:r>
              <a:rPr lang="en-US">
                <a:latin typeface="Lucida Bright"/>
              </a:rPr>
              <a:t>Research Problem</a:t>
            </a:r>
          </a:p>
        </p:txBody>
      </p:sp>
      <p:pic>
        <p:nvPicPr>
          <p:cNvPr id="10" name="Content Placeholder 9" descr="A table with text and numbers&#10;&#10;AI-generated content may be incorrect.">
            <a:extLst>
              <a:ext uri="{FF2B5EF4-FFF2-40B4-BE49-F238E27FC236}">
                <a16:creationId xmlns:a16="http://schemas.microsoft.com/office/drawing/2014/main" id="{8016E7E2-2277-7E6E-8D57-337D2EBC6301}"/>
              </a:ext>
            </a:extLst>
          </p:cNvPr>
          <p:cNvPicPr>
            <a:picLocks noChangeAspect="1"/>
          </p:cNvPicPr>
          <p:nvPr/>
        </p:nvPicPr>
        <p:blipFill>
          <a:blip r:embed="rId2"/>
          <a:stretch>
            <a:fillRect/>
          </a:stretch>
        </p:blipFill>
        <p:spPr>
          <a:xfrm>
            <a:off x="142400" y="1030170"/>
            <a:ext cx="5318967" cy="4507576"/>
          </a:xfrm>
          <a:prstGeom prst="rect">
            <a:avLst/>
          </a:prstGeom>
        </p:spPr>
      </p:pic>
      <p:pic>
        <p:nvPicPr>
          <p:cNvPr id="12" name="Content Placeholder 11" descr="A close up of a word&#10;&#10;AI-generated content may be incorrect.">
            <a:extLst>
              <a:ext uri="{FF2B5EF4-FFF2-40B4-BE49-F238E27FC236}">
                <a16:creationId xmlns:a16="http://schemas.microsoft.com/office/drawing/2014/main" id="{808BC5E5-1B9D-55C5-60C8-5C79E8F69718}"/>
              </a:ext>
            </a:extLst>
          </p:cNvPr>
          <p:cNvPicPr>
            <a:picLocks noGrp="1" noChangeAspect="1"/>
          </p:cNvPicPr>
          <p:nvPr>
            <p:ph idx="1"/>
          </p:nvPr>
        </p:nvPicPr>
        <p:blipFill>
          <a:blip r:embed="rId3"/>
          <a:stretch>
            <a:fillRect/>
          </a:stretch>
        </p:blipFill>
        <p:spPr>
          <a:xfrm>
            <a:off x="146154" y="813838"/>
            <a:ext cx="5317441" cy="215895"/>
          </a:xfrm>
          <a:prstGeom prst="rect">
            <a:avLst/>
          </a:prstGeom>
        </p:spPr>
      </p:pic>
      <p:sp>
        <p:nvSpPr>
          <p:cNvPr id="14" name="TextBox 13">
            <a:extLst>
              <a:ext uri="{FF2B5EF4-FFF2-40B4-BE49-F238E27FC236}">
                <a16:creationId xmlns:a16="http://schemas.microsoft.com/office/drawing/2014/main" id="{F73D5E0D-3E0F-A5AF-CC03-0856A1340211}"/>
              </a:ext>
            </a:extLst>
          </p:cNvPr>
          <p:cNvSpPr txBox="1"/>
          <p:nvPr/>
        </p:nvSpPr>
        <p:spPr>
          <a:xfrm>
            <a:off x="5461726" y="1426766"/>
            <a:ext cx="6380146"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latin typeface="Calisto MT"/>
              </a:rPr>
              <a:t>O</a:t>
            </a:r>
            <a:r>
              <a:rPr lang="en-US" b="1">
                <a:latin typeface="Calisto MT"/>
              </a:rPr>
              <a:t>ne in every eight women</a:t>
            </a:r>
            <a:r>
              <a:rPr lang="en-US">
                <a:latin typeface="Calisto MT"/>
              </a:rPr>
              <a:t> (13.1%) is diagnosed with a form of breast cancer in their lives, and about </a:t>
            </a:r>
            <a:r>
              <a:rPr lang="en-US" b="1">
                <a:latin typeface="Calisto MT"/>
              </a:rPr>
              <a:t>one in every forty-three women</a:t>
            </a:r>
            <a:r>
              <a:rPr lang="en-US">
                <a:latin typeface="Calisto MT"/>
              </a:rPr>
              <a:t> (2.3%) will die from this disease.</a:t>
            </a:r>
          </a:p>
          <a:p>
            <a:pPr marL="285750" indent="-285750">
              <a:buFont typeface="Arial"/>
              <a:buChar char="•"/>
            </a:pPr>
            <a:endParaRPr lang="en-US">
              <a:latin typeface="Calisto MT"/>
            </a:endParaRPr>
          </a:p>
          <a:p>
            <a:pPr marL="285750" indent="-285750">
              <a:buFont typeface="Arial"/>
              <a:buChar char="•"/>
            </a:pPr>
            <a:r>
              <a:rPr lang="en-US" b="1">
                <a:latin typeface="Calisto MT"/>
              </a:rPr>
              <a:t>Goal: </a:t>
            </a:r>
            <a:r>
              <a:rPr lang="en-US">
                <a:latin typeface="Calisto MT"/>
              </a:rPr>
              <a:t>Uncover specific genes and molecular pathways which are significantly dysregulated in Luminal A invasive ductal carcinoma.</a:t>
            </a:r>
          </a:p>
          <a:p>
            <a:pPr marL="285750" indent="-285750">
              <a:buFont typeface="Arial"/>
              <a:buChar char="•"/>
            </a:pPr>
            <a:endParaRPr lang="en-US">
              <a:latin typeface="Calisto MT"/>
            </a:endParaRPr>
          </a:p>
          <a:p>
            <a:pPr marL="285750" indent="-285750">
              <a:buFont typeface="Arial"/>
              <a:buChar char="•"/>
            </a:pPr>
            <a:r>
              <a:rPr lang="en-US" b="1">
                <a:latin typeface="Calisto MT"/>
              </a:rPr>
              <a:t>Proposal Hypothesis:</a:t>
            </a:r>
            <a:r>
              <a:rPr lang="en-US">
                <a:latin typeface="Calisto MT"/>
              </a:rPr>
              <a:t> Differentially expressed genes in Luminal A Invasive Ductal Carcinoma will reveal enrichment in hormone-regulated and cell-cycle pathways distinct from those in unaffected breast tissue.</a:t>
            </a:r>
          </a:p>
          <a:p>
            <a:pPr marL="285750" indent="-285750">
              <a:buFont typeface="Arial"/>
              <a:buChar char="•"/>
            </a:pPr>
            <a:endParaRPr lang="en-US">
              <a:latin typeface="Calisto MT"/>
            </a:endParaRPr>
          </a:p>
          <a:p>
            <a:pPr marL="285750" indent="-285750">
              <a:buFont typeface="Arial"/>
              <a:buChar char="•"/>
            </a:pPr>
            <a:r>
              <a:rPr lang="en-US">
                <a:latin typeface="Calisto MT"/>
              </a:rPr>
              <a:t>Uncovering downregulated metabolic pathways in Luminal A IDC samples provides insight to the how the homeostatic environment is modified within the tumor environment.</a:t>
            </a:r>
          </a:p>
          <a:p>
            <a:pPr marL="285750" indent="-285750">
              <a:buFont typeface="Arial,Sans-Serif"/>
              <a:buChar char="•"/>
            </a:pPr>
            <a:endParaRPr lang="en-US">
              <a:latin typeface="Calisto MT"/>
            </a:endParaRPr>
          </a:p>
          <a:p>
            <a:pPr marL="285750" indent="-285750">
              <a:buFont typeface="Arial,Sans-Serif"/>
              <a:buChar char="•"/>
            </a:pPr>
            <a:endParaRPr lang="en-US">
              <a:latin typeface="Calisto MT"/>
            </a:endParaRPr>
          </a:p>
        </p:txBody>
      </p:sp>
    </p:spTree>
    <p:extLst>
      <p:ext uri="{BB962C8B-B14F-4D97-AF65-F5344CB8AC3E}">
        <p14:creationId xmlns:p14="http://schemas.microsoft.com/office/powerpoint/2010/main" val="22679222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3" name="Rectangle 22">
            <a:extLst>
              <a:ext uri="{FF2B5EF4-FFF2-40B4-BE49-F238E27FC236}">
                <a16:creationId xmlns:a16="http://schemas.microsoft.com/office/drawing/2014/main" id="{A7D20BF2-EB2E-6063-DD3A-ABDA963535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5E6E08-44BB-B74D-6330-F84EA2D538DC}"/>
              </a:ext>
            </a:extLst>
          </p:cNvPr>
          <p:cNvSpPr>
            <a:spLocks noGrp="1"/>
          </p:cNvSpPr>
          <p:nvPr>
            <p:ph type="title"/>
          </p:nvPr>
        </p:nvSpPr>
        <p:spPr>
          <a:xfrm>
            <a:off x="1194949" y="191843"/>
            <a:ext cx="9812162" cy="772407"/>
          </a:xfrm>
        </p:spPr>
        <p:txBody>
          <a:bodyPr vert="horz" lIns="91440" tIns="45720" rIns="91440" bIns="45720" rtlCol="0" anchor="t">
            <a:normAutofit/>
          </a:bodyPr>
          <a:lstStyle/>
          <a:p>
            <a:r>
              <a:rPr lang="en-US" sz="3600">
                <a:latin typeface="Lucida Bright"/>
              </a:rPr>
              <a:t>Literature Review and Limitations</a:t>
            </a:r>
          </a:p>
          <a:p>
            <a:endParaRPr lang="en-US" sz="7600"/>
          </a:p>
        </p:txBody>
      </p:sp>
      <p:cxnSp>
        <p:nvCxnSpPr>
          <p:cNvPr id="25" name="Straight Connector 24">
            <a:extLst>
              <a:ext uri="{FF2B5EF4-FFF2-40B4-BE49-F238E27FC236}">
                <a16:creationId xmlns:a16="http://schemas.microsoft.com/office/drawing/2014/main" id="{90FB7F1C-B2F7-27EA-1F8A-D4A3232318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7C81870-33D4-7498-220B-363C880CB75F}"/>
              </a:ext>
            </a:extLst>
          </p:cNvPr>
          <p:cNvSpPr txBox="1"/>
          <p:nvPr/>
        </p:nvSpPr>
        <p:spPr>
          <a:xfrm>
            <a:off x="212202" y="3231265"/>
            <a:ext cx="11584327"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Limitations:</a:t>
            </a:r>
          </a:p>
          <a:p>
            <a:pPr marL="285750" indent="-285750">
              <a:buFont typeface="Arial"/>
              <a:buChar char="•"/>
            </a:pPr>
            <a:r>
              <a:rPr lang="en-US" dirty="0"/>
              <a:t>Sample size &amp; TCGA limitations: Compared to my proposal presentation, I greatly expanded the sample size from 50 total samples to over 400 (~300 Luminal A IDC Primary Tumor Samples, and ~100 Unaffected Breast Tissue Samples) however 400 samples is still quite low for this type of analysis. See future directions slide.</a:t>
            </a:r>
          </a:p>
          <a:p>
            <a:endParaRPr lang="en-US" dirty="0"/>
          </a:p>
          <a:p>
            <a:pPr marL="285750" indent="-285750">
              <a:buFont typeface="Arial"/>
              <a:buChar char="•"/>
            </a:pPr>
            <a:r>
              <a:rPr lang="en-US" dirty="0"/>
              <a:t>Bulk RNA-seq cannot separate tumor, stromal, and immune signals. A more effective approach for DEG and pathway dysregulation analysis may come from single-cell RNA-seq data, to isolate certain metabolic or cellular sources.</a:t>
            </a:r>
          </a:p>
          <a:p>
            <a:endParaRPr lang="en-US" dirty="0"/>
          </a:p>
          <a:p>
            <a:pPr marL="285750" indent="-285750">
              <a:buFont typeface="Arial"/>
              <a:buChar char="•"/>
            </a:pPr>
            <a:r>
              <a:rPr lang="en-US" dirty="0"/>
              <a:t>GSEA databases differ in curation and pathway overlap, and pathway enrichment is correlative, not always causal.</a:t>
            </a:r>
          </a:p>
        </p:txBody>
      </p:sp>
      <p:sp>
        <p:nvSpPr>
          <p:cNvPr id="4" name="TextBox 3">
            <a:extLst>
              <a:ext uri="{FF2B5EF4-FFF2-40B4-BE49-F238E27FC236}">
                <a16:creationId xmlns:a16="http://schemas.microsoft.com/office/drawing/2014/main" id="{9BEFEB77-2C0F-AD39-3811-2851992BC549}"/>
              </a:ext>
            </a:extLst>
          </p:cNvPr>
          <p:cNvSpPr txBox="1"/>
          <p:nvPr/>
        </p:nvSpPr>
        <p:spPr>
          <a:xfrm>
            <a:off x="212202" y="964556"/>
            <a:ext cx="11208151"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dirty="0"/>
              <a:t>In literature related to Breast Cancer RNA-seq Gene Expression, TCGA is commonly used, but other databases also prove to be extremely well-curated (METABRIC, GEO, ICGC).[</a:t>
            </a:r>
            <a:r>
              <a:rPr lang="en-US" b="1" dirty="0">
                <a:solidFill>
                  <a:srgbClr val="1B1B1B"/>
                </a:solidFill>
              </a:rPr>
              <a:t>Identification of differentially expressed genes-related...] </a:t>
            </a:r>
            <a:endParaRPr lang="en-US" dirty="0"/>
          </a:p>
          <a:p>
            <a:endParaRPr lang="en-US" b="1" dirty="0">
              <a:solidFill>
                <a:srgbClr val="1B1B1B"/>
              </a:solidFill>
            </a:endParaRPr>
          </a:p>
          <a:p>
            <a:pPr marL="285750" indent="-285750">
              <a:buFont typeface="Arial"/>
              <a:buChar char="•"/>
            </a:pPr>
            <a:r>
              <a:rPr lang="en-US" dirty="0">
                <a:solidFill>
                  <a:srgbClr val="1B1B1B"/>
                </a:solidFill>
              </a:rPr>
              <a:t>Recent publications have called for the integration of multiple pathway libraries (Hallmark, KEGG variants, </a:t>
            </a:r>
            <a:r>
              <a:rPr lang="en-US" err="1">
                <a:solidFill>
                  <a:srgbClr val="1B1B1B"/>
                </a:solidFill>
              </a:rPr>
              <a:t>reactome</a:t>
            </a:r>
            <a:r>
              <a:rPr lang="en-US" dirty="0">
                <a:solidFill>
                  <a:srgbClr val="1B1B1B"/>
                </a:solidFill>
              </a:rPr>
              <a:t>) to avoid single database bias and to have a greater interpretation of how gene or pathway dysregulation is related to proliferation of the disease [</a:t>
            </a:r>
            <a:r>
              <a:rPr lang="en-US" b="1" dirty="0">
                <a:solidFill>
                  <a:srgbClr val="212121"/>
                </a:solidFill>
                <a:latin typeface="Calisto MT"/>
              </a:rPr>
              <a:t>Toward a gold standard for benchmarking gene set...]</a:t>
            </a:r>
          </a:p>
          <a:p>
            <a:endParaRPr lang="en-US" dirty="0">
              <a:solidFill>
                <a:srgbClr val="000000"/>
              </a:solidFill>
            </a:endParaRPr>
          </a:p>
        </p:txBody>
      </p:sp>
    </p:spTree>
    <p:extLst>
      <p:ext uri="{BB962C8B-B14F-4D97-AF65-F5344CB8AC3E}">
        <p14:creationId xmlns:p14="http://schemas.microsoft.com/office/powerpoint/2010/main" val="5545408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A64A1-1E10-54F9-B889-13D45FD69C63}"/>
              </a:ext>
            </a:extLst>
          </p:cNvPr>
          <p:cNvSpPr>
            <a:spLocks noGrp="1"/>
          </p:cNvSpPr>
          <p:nvPr>
            <p:ph type="title"/>
          </p:nvPr>
        </p:nvSpPr>
        <p:spPr/>
        <p:txBody>
          <a:bodyPr/>
          <a:lstStyle/>
          <a:p>
            <a:r>
              <a:rPr lang="en-US" dirty="0">
                <a:latin typeface="Lucida Bright"/>
              </a:rPr>
              <a:t>Final Pipeline Flowchart</a:t>
            </a:r>
          </a:p>
        </p:txBody>
      </p:sp>
      <p:pic>
        <p:nvPicPr>
          <p:cNvPr id="7" name="Picture 6">
            <a:extLst>
              <a:ext uri="{FF2B5EF4-FFF2-40B4-BE49-F238E27FC236}">
                <a16:creationId xmlns:a16="http://schemas.microsoft.com/office/drawing/2014/main" id="{D0E3AD87-0321-1316-5F5C-FE6B2AB84C03}"/>
              </a:ext>
            </a:extLst>
          </p:cNvPr>
          <p:cNvPicPr>
            <a:picLocks noChangeAspect="1"/>
          </p:cNvPicPr>
          <p:nvPr/>
        </p:nvPicPr>
        <p:blipFill>
          <a:blip r:embed="rId2"/>
          <a:stretch>
            <a:fillRect/>
          </a:stretch>
        </p:blipFill>
        <p:spPr>
          <a:xfrm>
            <a:off x="337595" y="2219224"/>
            <a:ext cx="11516265" cy="2085961"/>
          </a:xfrm>
          <a:prstGeom prst="rect">
            <a:avLst/>
          </a:prstGeom>
        </p:spPr>
      </p:pic>
      <p:sp>
        <p:nvSpPr>
          <p:cNvPr id="8" name="TextBox 7">
            <a:extLst>
              <a:ext uri="{FF2B5EF4-FFF2-40B4-BE49-F238E27FC236}">
                <a16:creationId xmlns:a16="http://schemas.microsoft.com/office/drawing/2014/main" id="{737A8DAB-3C4A-F02F-B518-8C99BA31BAFB}"/>
              </a:ext>
            </a:extLst>
          </p:cNvPr>
          <p:cNvSpPr txBox="1"/>
          <p:nvPr/>
        </p:nvSpPr>
        <p:spPr>
          <a:xfrm>
            <a:off x="2044861" y="1716911"/>
            <a:ext cx="48227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dirty="0"/>
              <a:t>1.</a:t>
            </a:r>
          </a:p>
        </p:txBody>
      </p:sp>
      <p:sp>
        <p:nvSpPr>
          <p:cNvPr id="9" name="TextBox 8">
            <a:extLst>
              <a:ext uri="{FF2B5EF4-FFF2-40B4-BE49-F238E27FC236}">
                <a16:creationId xmlns:a16="http://schemas.microsoft.com/office/drawing/2014/main" id="{F41D8B85-3BB5-8B82-B2FF-E60EF548F183}"/>
              </a:ext>
            </a:extLst>
          </p:cNvPr>
          <p:cNvSpPr txBox="1"/>
          <p:nvPr/>
        </p:nvSpPr>
        <p:spPr>
          <a:xfrm>
            <a:off x="5806632" y="1716911"/>
            <a:ext cx="48227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dirty="0"/>
              <a:t>2.</a:t>
            </a:r>
          </a:p>
        </p:txBody>
      </p:sp>
      <p:sp>
        <p:nvSpPr>
          <p:cNvPr id="10" name="TextBox 9">
            <a:extLst>
              <a:ext uri="{FF2B5EF4-FFF2-40B4-BE49-F238E27FC236}">
                <a16:creationId xmlns:a16="http://schemas.microsoft.com/office/drawing/2014/main" id="{E9BA64DD-BCD8-67B0-EAC8-FB63CD7F4D0A}"/>
              </a:ext>
            </a:extLst>
          </p:cNvPr>
          <p:cNvSpPr txBox="1"/>
          <p:nvPr/>
        </p:nvSpPr>
        <p:spPr>
          <a:xfrm>
            <a:off x="9819188" y="1716911"/>
            <a:ext cx="55944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dirty="0"/>
              <a:t>3.</a:t>
            </a:r>
          </a:p>
        </p:txBody>
      </p:sp>
      <p:pic>
        <p:nvPicPr>
          <p:cNvPr id="3" name="Picture 2">
            <a:extLst>
              <a:ext uri="{FF2B5EF4-FFF2-40B4-BE49-F238E27FC236}">
                <a16:creationId xmlns:a16="http://schemas.microsoft.com/office/drawing/2014/main" id="{94713BEA-F9DA-22EA-794B-0D9955D37926}"/>
              </a:ext>
            </a:extLst>
          </p:cNvPr>
          <p:cNvPicPr>
            <a:picLocks noChangeAspect="1"/>
          </p:cNvPicPr>
          <p:nvPr/>
        </p:nvPicPr>
        <p:blipFill>
          <a:blip r:embed="rId3"/>
          <a:stretch>
            <a:fillRect/>
          </a:stretch>
        </p:blipFill>
        <p:spPr>
          <a:xfrm>
            <a:off x="1475278" y="4716210"/>
            <a:ext cx="4718064" cy="1294403"/>
          </a:xfrm>
          <a:prstGeom prst="rect">
            <a:avLst/>
          </a:prstGeom>
        </p:spPr>
      </p:pic>
      <p:sp>
        <p:nvSpPr>
          <p:cNvPr id="4" name="TextBox 3">
            <a:extLst>
              <a:ext uri="{FF2B5EF4-FFF2-40B4-BE49-F238E27FC236}">
                <a16:creationId xmlns:a16="http://schemas.microsoft.com/office/drawing/2014/main" id="{7F19D5B3-3AB8-CD85-00BD-2EA1D607ADAF}"/>
              </a:ext>
            </a:extLst>
          </p:cNvPr>
          <p:cNvSpPr txBox="1"/>
          <p:nvPr/>
        </p:nvSpPr>
        <p:spPr>
          <a:xfrm>
            <a:off x="1342539" y="4434176"/>
            <a:ext cx="4753188" cy="276999"/>
          </a:xfrm>
          <a:prstGeom prst="rect">
            <a:avLst/>
          </a:prstGeom>
          <a:noFill/>
        </p:spPr>
        <p:txBody>
          <a:bodyPr wrap="square" rtlCol="0">
            <a:spAutoFit/>
          </a:bodyPr>
          <a:lstStyle/>
          <a:p>
            <a:pPr algn="ctr"/>
            <a:r>
              <a:rPr lang="en-US" sz="1200" i="1" dirty="0"/>
              <a:t>Table 2: Metadata File Structure:</a:t>
            </a:r>
          </a:p>
        </p:txBody>
      </p:sp>
      <p:pic>
        <p:nvPicPr>
          <p:cNvPr id="5" name="Picture 4">
            <a:extLst>
              <a:ext uri="{FF2B5EF4-FFF2-40B4-BE49-F238E27FC236}">
                <a16:creationId xmlns:a16="http://schemas.microsoft.com/office/drawing/2014/main" id="{3568858B-EB9A-37E3-5FEF-F93ED354B9E3}"/>
              </a:ext>
            </a:extLst>
          </p:cNvPr>
          <p:cNvPicPr>
            <a:picLocks noChangeAspect="1"/>
          </p:cNvPicPr>
          <p:nvPr/>
        </p:nvPicPr>
        <p:blipFill>
          <a:blip r:embed="rId4"/>
          <a:stretch>
            <a:fillRect/>
          </a:stretch>
        </p:blipFill>
        <p:spPr>
          <a:xfrm>
            <a:off x="6539024" y="4572676"/>
            <a:ext cx="3088610" cy="1505771"/>
          </a:xfrm>
          <a:prstGeom prst="rect">
            <a:avLst/>
          </a:prstGeom>
        </p:spPr>
      </p:pic>
      <p:sp>
        <p:nvSpPr>
          <p:cNvPr id="6" name="TextBox 5">
            <a:extLst>
              <a:ext uri="{FF2B5EF4-FFF2-40B4-BE49-F238E27FC236}">
                <a16:creationId xmlns:a16="http://schemas.microsoft.com/office/drawing/2014/main" id="{14CBEF0B-40CD-3C9B-5711-1B9639716082}"/>
              </a:ext>
            </a:extLst>
          </p:cNvPr>
          <p:cNvSpPr txBox="1"/>
          <p:nvPr/>
        </p:nvSpPr>
        <p:spPr>
          <a:xfrm>
            <a:off x="6539025" y="4374415"/>
            <a:ext cx="3088609" cy="461665"/>
          </a:xfrm>
          <a:prstGeom prst="rect">
            <a:avLst/>
          </a:prstGeom>
          <a:noFill/>
        </p:spPr>
        <p:txBody>
          <a:bodyPr wrap="square" rtlCol="0">
            <a:spAutoFit/>
          </a:bodyPr>
          <a:lstStyle/>
          <a:p>
            <a:r>
              <a:rPr lang="en-US" sz="1200" i="1" dirty="0"/>
              <a:t>Table 3: Gene Expression Matrix  File Structure:</a:t>
            </a:r>
          </a:p>
          <a:p>
            <a:endParaRPr lang="en-US" sz="1200" dirty="0"/>
          </a:p>
        </p:txBody>
      </p:sp>
    </p:spTree>
    <p:extLst>
      <p:ext uri="{BB962C8B-B14F-4D97-AF65-F5344CB8AC3E}">
        <p14:creationId xmlns:p14="http://schemas.microsoft.com/office/powerpoint/2010/main" val="31205053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9" name="Rectangle 18">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1E9D64-BCBE-B306-51F0-630FB6594AAC}"/>
              </a:ext>
            </a:extLst>
          </p:cNvPr>
          <p:cNvSpPr>
            <a:spLocks noGrp="1"/>
          </p:cNvSpPr>
          <p:nvPr>
            <p:ph type="title"/>
          </p:nvPr>
        </p:nvSpPr>
        <p:spPr>
          <a:xfrm>
            <a:off x="282912" y="128959"/>
            <a:ext cx="11354916" cy="618088"/>
          </a:xfrm>
        </p:spPr>
        <p:txBody>
          <a:bodyPr vert="horz" lIns="91440" tIns="45720" rIns="91440" bIns="45720" rtlCol="0" anchor="t">
            <a:normAutofit fontScale="90000"/>
          </a:bodyPr>
          <a:lstStyle/>
          <a:p>
            <a:pPr>
              <a:lnSpc>
                <a:spcPct val="90000"/>
              </a:lnSpc>
            </a:pPr>
            <a:r>
              <a:rPr lang="en-US" sz="3600">
                <a:latin typeface="Lucida Bright"/>
              </a:rPr>
              <a:t>Differentially expressed genes Implementation</a:t>
            </a:r>
          </a:p>
        </p:txBody>
      </p:sp>
      <p:cxnSp>
        <p:nvCxnSpPr>
          <p:cNvPr id="21" name="Straight Connector 20">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Content Placeholder 3" descr="A diagram of a volcano plot&#10;&#10;AI-generated content may be incorrect.">
            <a:extLst>
              <a:ext uri="{FF2B5EF4-FFF2-40B4-BE49-F238E27FC236}">
                <a16:creationId xmlns:a16="http://schemas.microsoft.com/office/drawing/2014/main" id="{FA329EB3-6EAB-A0C9-722B-9B2B1C5A73CA}"/>
              </a:ext>
            </a:extLst>
          </p:cNvPr>
          <p:cNvPicPr>
            <a:picLocks noGrp="1" noChangeAspect="1"/>
          </p:cNvPicPr>
          <p:nvPr>
            <p:ph idx="1"/>
          </p:nvPr>
        </p:nvPicPr>
        <p:blipFill>
          <a:blip r:embed="rId2"/>
          <a:stretch>
            <a:fillRect/>
          </a:stretch>
        </p:blipFill>
        <p:spPr>
          <a:xfrm>
            <a:off x="722935" y="864140"/>
            <a:ext cx="7179970" cy="5133681"/>
          </a:xfrm>
          <a:prstGeom prst="rect">
            <a:avLst/>
          </a:prstGeom>
        </p:spPr>
      </p:pic>
      <p:cxnSp>
        <p:nvCxnSpPr>
          <p:cNvPr id="23" name="Straight Connector 22">
            <a:extLst>
              <a:ext uri="{FF2B5EF4-FFF2-40B4-BE49-F238E27FC236}">
                <a16:creationId xmlns:a16="http://schemas.microsoft.com/office/drawing/2014/main" id="{D7CC41EB-2D81-4303-9171-6401B388BA3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885"/>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0719C8E-3539-2BB9-1E88-81F0C4AF7C0F}"/>
              </a:ext>
            </a:extLst>
          </p:cNvPr>
          <p:cNvSpPr txBox="1"/>
          <p:nvPr/>
        </p:nvSpPr>
        <p:spPr>
          <a:xfrm>
            <a:off x="6983597" y="4965101"/>
            <a:ext cx="5094805"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t>While this segment of the pipeline is not novel, it is necessary to validate the DEG script to ensure the gene list produced is accurate.</a:t>
            </a:r>
          </a:p>
        </p:txBody>
      </p:sp>
      <p:sp>
        <p:nvSpPr>
          <p:cNvPr id="7" name="TextBox 6">
            <a:extLst>
              <a:ext uri="{FF2B5EF4-FFF2-40B4-BE49-F238E27FC236}">
                <a16:creationId xmlns:a16="http://schemas.microsoft.com/office/drawing/2014/main" id="{38DC2F44-82F7-CE79-8BD4-0C247D14657B}"/>
              </a:ext>
            </a:extLst>
          </p:cNvPr>
          <p:cNvSpPr txBox="1"/>
          <p:nvPr/>
        </p:nvSpPr>
        <p:spPr>
          <a:xfrm>
            <a:off x="6980858" y="976187"/>
            <a:ext cx="495567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t>4,191 Significant DEGs (1,421 Upregulated, 2770 Downregulated).</a:t>
            </a:r>
          </a:p>
          <a:p>
            <a:pPr marL="285750" indent="-285750">
              <a:buFont typeface="Arial"/>
              <a:buChar char="•"/>
            </a:pPr>
            <a:endParaRPr lang="en-US"/>
          </a:p>
          <a:p>
            <a:pPr marL="285750" indent="-285750">
              <a:buFont typeface="Arial"/>
              <a:buChar char="•"/>
            </a:pPr>
            <a:r>
              <a:rPr lang="en-US"/>
              <a:t>Using thresholds: </a:t>
            </a:r>
            <a:r>
              <a:rPr lang="en-US" err="1">
                <a:latin typeface="Calisto MT"/>
              </a:rPr>
              <a:t>padj</a:t>
            </a:r>
            <a:r>
              <a:rPr lang="en-US">
                <a:latin typeface="Calisto MT"/>
              </a:rPr>
              <a:t> &lt; 0.05 , |log2FC| &gt; 1 </a:t>
            </a:r>
          </a:p>
        </p:txBody>
      </p:sp>
      <p:sp>
        <p:nvSpPr>
          <p:cNvPr id="9" name="TextBox 8">
            <a:extLst>
              <a:ext uri="{FF2B5EF4-FFF2-40B4-BE49-F238E27FC236}">
                <a16:creationId xmlns:a16="http://schemas.microsoft.com/office/drawing/2014/main" id="{EDD68041-3457-C452-7A56-CAD8D7A50A3A}"/>
              </a:ext>
            </a:extLst>
          </p:cNvPr>
          <p:cNvSpPr txBox="1"/>
          <p:nvPr/>
        </p:nvSpPr>
        <p:spPr>
          <a:xfrm>
            <a:off x="570000" y="6114000"/>
            <a:ext cx="6684000" cy="467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a:solidFill>
                  <a:srgbClr val="EE3B87"/>
                </a:solidFill>
                <a:highlight>
                  <a:srgbClr val="FAF1F5"/>
                </a:highlight>
                <a:latin typeface="Bierstadt"/>
              </a:rPr>
              <a:t>Figure 2. Volcano Plot Displaying Differentially Expressed Genes Between Luminal A IDC Samples and Unaffected Breast Samples</a:t>
            </a:r>
            <a:endParaRPr lang="en-US"/>
          </a:p>
        </p:txBody>
      </p:sp>
    </p:spTree>
    <p:extLst>
      <p:ext uri="{BB962C8B-B14F-4D97-AF65-F5344CB8AC3E}">
        <p14:creationId xmlns:p14="http://schemas.microsoft.com/office/powerpoint/2010/main" val="11348292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D5DDA-6CB3-BD1D-0532-379BB90D8929}"/>
              </a:ext>
            </a:extLst>
          </p:cNvPr>
          <p:cNvSpPr>
            <a:spLocks noGrp="1"/>
          </p:cNvSpPr>
          <p:nvPr>
            <p:ph type="title"/>
          </p:nvPr>
        </p:nvSpPr>
        <p:spPr>
          <a:xfrm>
            <a:off x="316635" y="98400"/>
            <a:ext cx="11705265" cy="767592"/>
          </a:xfrm>
        </p:spPr>
        <p:txBody>
          <a:bodyPr>
            <a:normAutofit/>
          </a:bodyPr>
          <a:lstStyle/>
          <a:p>
            <a:r>
              <a:rPr lang="en-US" sz="3600">
                <a:latin typeface="Lucida Bright"/>
              </a:rPr>
              <a:t>Gene set &amp; Pathway enrichment analysis</a:t>
            </a:r>
          </a:p>
        </p:txBody>
      </p:sp>
      <p:sp>
        <p:nvSpPr>
          <p:cNvPr id="3" name="Content Placeholder 2">
            <a:extLst>
              <a:ext uri="{FF2B5EF4-FFF2-40B4-BE49-F238E27FC236}">
                <a16:creationId xmlns:a16="http://schemas.microsoft.com/office/drawing/2014/main" id="{E220DD19-F285-5745-DA2F-4100F8373CFE}"/>
              </a:ext>
            </a:extLst>
          </p:cNvPr>
          <p:cNvSpPr>
            <a:spLocks noGrp="1"/>
          </p:cNvSpPr>
          <p:nvPr>
            <p:ph idx="1"/>
          </p:nvPr>
        </p:nvSpPr>
        <p:spPr>
          <a:xfrm>
            <a:off x="184635" y="973992"/>
            <a:ext cx="4595265" cy="1135896"/>
          </a:xfrm>
        </p:spPr>
        <p:txBody>
          <a:bodyPr vert="horz" lIns="91440" tIns="45720" rIns="91440" bIns="45720" rtlCol="0" anchor="t">
            <a:normAutofit/>
          </a:bodyPr>
          <a:lstStyle/>
          <a:p>
            <a:pPr algn="ctr"/>
            <a:r>
              <a:rPr lang="en-US" sz="1800"/>
              <a:t>3 Gene List Databases used in GSEA: </a:t>
            </a:r>
            <a:r>
              <a:rPr lang="en-US" sz="1800" err="1"/>
              <a:t>KEGG_Legacy</a:t>
            </a:r>
            <a:r>
              <a:rPr lang="en-US" sz="1800"/>
              <a:t>, </a:t>
            </a:r>
            <a:r>
              <a:rPr lang="en-US" sz="1800" err="1"/>
              <a:t>KEGG_Medicus</a:t>
            </a:r>
            <a:r>
              <a:rPr lang="en-US" sz="1800"/>
              <a:t>, and </a:t>
            </a:r>
            <a:r>
              <a:rPr lang="en-US" sz="1800" err="1"/>
              <a:t>Hallmark_All</a:t>
            </a:r>
            <a:endParaRPr lang="en-US" sz="1800"/>
          </a:p>
        </p:txBody>
      </p:sp>
      <p:pic>
        <p:nvPicPr>
          <p:cNvPr id="4" name="Picture 3" descr="A screenshot of a computer&#10;&#10;AI-generated content may be incorrect.">
            <a:extLst>
              <a:ext uri="{FF2B5EF4-FFF2-40B4-BE49-F238E27FC236}">
                <a16:creationId xmlns:a16="http://schemas.microsoft.com/office/drawing/2014/main" id="{0CCD5E83-FCAD-6A89-2E6F-FE707E34F19A}"/>
              </a:ext>
            </a:extLst>
          </p:cNvPr>
          <p:cNvPicPr>
            <a:picLocks noChangeAspect="1"/>
          </p:cNvPicPr>
          <p:nvPr/>
        </p:nvPicPr>
        <p:blipFill>
          <a:blip r:embed="rId2"/>
          <a:stretch>
            <a:fillRect/>
          </a:stretch>
        </p:blipFill>
        <p:spPr>
          <a:xfrm>
            <a:off x="673346" y="2004000"/>
            <a:ext cx="3615308" cy="3564000"/>
          </a:xfrm>
          <a:prstGeom prst="rect">
            <a:avLst/>
          </a:prstGeom>
        </p:spPr>
      </p:pic>
      <p:sp>
        <p:nvSpPr>
          <p:cNvPr id="5" name="TextBox 4">
            <a:extLst>
              <a:ext uri="{FF2B5EF4-FFF2-40B4-BE49-F238E27FC236}">
                <a16:creationId xmlns:a16="http://schemas.microsoft.com/office/drawing/2014/main" id="{77C7FD65-E84A-6FB1-A535-AA4E6213628A}"/>
              </a:ext>
            </a:extLst>
          </p:cNvPr>
          <p:cNvSpPr txBox="1"/>
          <p:nvPr/>
        </p:nvSpPr>
        <p:spPr>
          <a:xfrm>
            <a:off x="552000" y="5568000"/>
            <a:ext cx="386400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solidFill>
                  <a:srgbClr val="EE3B87"/>
                </a:solidFill>
                <a:highlight>
                  <a:srgbClr val="FAF1F5"/>
                </a:highlight>
                <a:latin typeface="Bierstadt"/>
              </a:rPr>
              <a:t>Figure 3. GSEA Settings for </a:t>
            </a:r>
            <a:r>
              <a:rPr lang="en-US" sz="1200" b="1" err="1">
                <a:solidFill>
                  <a:srgbClr val="EE3B87"/>
                </a:solidFill>
                <a:highlight>
                  <a:srgbClr val="FAF1F5"/>
                </a:highlight>
                <a:latin typeface="Bierstadt"/>
              </a:rPr>
              <a:t>KEGG_Medicus</a:t>
            </a:r>
            <a:r>
              <a:rPr lang="en-US" sz="1200" b="1">
                <a:solidFill>
                  <a:srgbClr val="EE3B87"/>
                </a:solidFill>
                <a:highlight>
                  <a:srgbClr val="FAF1F5"/>
                </a:highlight>
                <a:latin typeface="Bierstadt"/>
              </a:rPr>
              <a:t> Gene List</a:t>
            </a:r>
          </a:p>
        </p:txBody>
      </p:sp>
      <p:sp>
        <p:nvSpPr>
          <p:cNvPr id="6" name="TextBox 5">
            <a:extLst>
              <a:ext uri="{FF2B5EF4-FFF2-40B4-BE49-F238E27FC236}">
                <a16:creationId xmlns:a16="http://schemas.microsoft.com/office/drawing/2014/main" id="{5A7C3F5E-1789-997E-AF35-33C5C4AA58F4}"/>
              </a:ext>
            </a:extLst>
          </p:cNvPr>
          <p:cNvSpPr txBox="1"/>
          <p:nvPr/>
        </p:nvSpPr>
        <p:spPr>
          <a:xfrm>
            <a:off x="5099387" y="972000"/>
            <a:ext cx="6708613"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Expected Results:</a:t>
            </a:r>
            <a:r>
              <a:rPr lang="en-US" dirty="0"/>
              <a:t> Downregulated p53 pathway, DNA-repair pathway, upregulated cell cycle proliferation, proteasome activity, spliceosome activity, etc. </a:t>
            </a:r>
          </a:p>
          <a:p>
            <a:endParaRPr lang="en-US" dirty="0"/>
          </a:p>
          <a:p>
            <a:pPr marL="285750" indent="-285750">
              <a:buFont typeface="Arial"/>
              <a:buChar char="•"/>
            </a:pPr>
            <a:r>
              <a:rPr lang="en-US" dirty="0"/>
              <a:t>Used the three gene lists to reference over different TYPES of analysis, with Hallmark being the largest and most broad gene list available within UCSD's GSEA_4.4.0 Software</a:t>
            </a:r>
          </a:p>
          <a:p>
            <a:pPr marL="285750" indent="-285750">
              <a:buFont typeface="Arial"/>
              <a:buChar char="•"/>
            </a:pPr>
            <a:endParaRPr lang="en-US" dirty="0"/>
          </a:p>
          <a:p>
            <a:pPr marL="285750" indent="-285750">
              <a:buFont typeface="Arial"/>
              <a:buChar char="•"/>
            </a:pPr>
            <a:r>
              <a:rPr lang="en-US" dirty="0"/>
              <a:t>Hallmark: Largest gene list, extremely well defined.</a:t>
            </a:r>
          </a:p>
          <a:p>
            <a:pPr marL="285750" indent="-285750">
              <a:buFont typeface="Arial"/>
              <a:buChar char="•"/>
            </a:pPr>
            <a:endParaRPr lang="en-US" dirty="0"/>
          </a:p>
          <a:p>
            <a:pPr marL="285750" indent="-285750">
              <a:buFont typeface="Arial"/>
              <a:buChar char="•"/>
            </a:pPr>
            <a:r>
              <a:rPr lang="en-US" err="1"/>
              <a:t>KEGG_Legacy</a:t>
            </a:r>
            <a:r>
              <a:rPr lang="en-US" dirty="0"/>
              <a:t>: Slightly smaller gene list than Hallmark, commonly used in similar pipelines.</a:t>
            </a:r>
          </a:p>
          <a:p>
            <a:pPr marL="285750" indent="-285750">
              <a:buFont typeface="Arial"/>
              <a:buChar char="•"/>
            </a:pPr>
            <a:endParaRPr lang="en-US" dirty="0"/>
          </a:p>
          <a:p>
            <a:pPr marL="285750" indent="-285750">
              <a:buFont typeface="Arial"/>
              <a:buChar char="•"/>
            </a:pPr>
            <a:r>
              <a:rPr lang="en-US" dirty="0" err="1"/>
              <a:t>KEGG_Medicus</a:t>
            </a:r>
            <a:r>
              <a:rPr lang="en-US" dirty="0"/>
              <a:t>: Gene list used especially for disease pathway dysregulation, heavy focus on immunological drivers that affect downstream processes.</a:t>
            </a:r>
          </a:p>
        </p:txBody>
      </p:sp>
    </p:spTree>
    <p:extLst>
      <p:ext uri="{BB962C8B-B14F-4D97-AF65-F5344CB8AC3E}">
        <p14:creationId xmlns:p14="http://schemas.microsoft.com/office/powerpoint/2010/main" val="35051140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F1A7E-A0D3-B213-A320-B2209FBBBC79}"/>
              </a:ext>
            </a:extLst>
          </p:cNvPr>
          <p:cNvSpPr>
            <a:spLocks noGrp="1"/>
          </p:cNvSpPr>
          <p:nvPr>
            <p:ph type="title"/>
          </p:nvPr>
        </p:nvSpPr>
        <p:spPr>
          <a:xfrm>
            <a:off x="2362635" y="104400"/>
            <a:ext cx="7463265" cy="659592"/>
          </a:xfrm>
        </p:spPr>
        <p:txBody>
          <a:bodyPr>
            <a:normAutofit/>
          </a:bodyPr>
          <a:lstStyle/>
          <a:p>
            <a:r>
              <a:rPr lang="en-US" sz="3600">
                <a:latin typeface="Lucida Bright"/>
              </a:rPr>
              <a:t>GSEA </a:t>
            </a:r>
            <a:r>
              <a:rPr lang="en-US" sz="3600" err="1">
                <a:latin typeface="Lucida Bright"/>
              </a:rPr>
              <a:t>REsults</a:t>
            </a:r>
            <a:r>
              <a:rPr lang="en-US" sz="3600">
                <a:latin typeface="Lucida Bright"/>
              </a:rPr>
              <a:t> visualization</a:t>
            </a:r>
          </a:p>
        </p:txBody>
      </p:sp>
      <p:pic>
        <p:nvPicPr>
          <p:cNvPr id="5" name="Picture 4" descr="A graph of a number of patients&#10;&#10;AI-generated content may be incorrect.">
            <a:extLst>
              <a:ext uri="{FF2B5EF4-FFF2-40B4-BE49-F238E27FC236}">
                <a16:creationId xmlns:a16="http://schemas.microsoft.com/office/drawing/2014/main" id="{A5086E9A-2E41-76B6-8A44-C053111B0388}"/>
              </a:ext>
            </a:extLst>
          </p:cNvPr>
          <p:cNvPicPr>
            <a:picLocks noChangeAspect="1"/>
          </p:cNvPicPr>
          <p:nvPr/>
        </p:nvPicPr>
        <p:blipFill>
          <a:blip r:embed="rId2"/>
          <a:stretch>
            <a:fillRect/>
          </a:stretch>
        </p:blipFill>
        <p:spPr>
          <a:xfrm>
            <a:off x="5732145" y="762000"/>
            <a:ext cx="5779770" cy="4206240"/>
          </a:xfrm>
          <a:prstGeom prst="rect">
            <a:avLst/>
          </a:prstGeom>
        </p:spPr>
      </p:pic>
      <p:sp>
        <p:nvSpPr>
          <p:cNvPr id="6" name="TextBox 5">
            <a:extLst>
              <a:ext uri="{FF2B5EF4-FFF2-40B4-BE49-F238E27FC236}">
                <a16:creationId xmlns:a16="http://schemas.microsoft.com/office/drawing/2014/main" id="{0B82F9F5-5D42-044C-36CD-8E30768A75CA}"/>
              </a:ext>
            </a:extLst>
          </p:cNvPr>
          <p:cNvSpPr txBox="1"/>
          <p:nvPr/>
        </p:nvSpPr>
        <p:spPr>
          <a:xfrm>
            <a:off x="968040" y="2291040"/>
            <a:ext cx="476244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solidFill>
                  <a:srgbClr val="EE3B87"/>
                </a:solidFill>
                <a:highlight>
                  <a:srgbClr val="FAF1F5"/>
                </a:highlight>
                <a:latin typeface="Bierstadt"/>
              </a:rPr>
              <a:t>Figure 4. Top 10 Downregulated Hallmark Pathways from GSEA</a:t>
            </a:r>
            <a:endParaRPr lang="en-US"/>
          </a:p>
        </p:txBody>
      </p:sp>
      <p:sp>
        <p:nvSpPr>
          <p:cNvPr id="7" name="TextBox 6">
            <a:extLst>
              <a:ext uri="{FF2B5EF4-FFF2-40B4-BE49-F238E27FC236}">
                <a16:creationId xmlns:a16="http://schemas.microsoft.com/office/drawing/2014/main" id="{1C28FAD9-6C8B-A0A5-C986-AA7F4A8F6AA2}"/>
              </a:ext>
            </a:extLst>
          </p:cNvPr>
          <p:cNvSpPr txBox="1"/>
          <p:nvPr/>
        </p:nvSpPr>
        <p:spPr>
          <a:xfrm>
            <a:off x="6456000" y="4896000"/>
            <a:ext cx="49440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solidFill>
                  <a:srgbClr val="EE3B87"/>
                </a:solidFill>
                <a:highlight>
                  <a:srgbClr val="FAF1F5"/>
                </a:highlight>
                <a:latin typeface="Bierstadt"/>
              </a:rPr>
              <a:t>Figure 5. Top 10 Upregulated Hallmark Pathways from GSEA</a:t>
            </a:r>
            <a:endParaRPr lang="en-US" sz="1200">
              <a:solidFill>
                <a:srgbClr val="000000"/>
              </a:solidFill>
              <a:highlight>
                <a:srgbClr val="FAF1F5"/>
              </a:highlight>
              <a:latin typeface="Bierstadt"/>
            </a:endParaRPr>
          </a:p>
          <a:p>
            <a:endParaRPr lang="en-US" sz="1200" b="1">
              <a:solidFill>
                <a:srgbClr val="EE3B87"/>
              </a:solidFill>
              <a:highlight>
                <a:srgbClr val="FAF1F5"/>
              </a:highlight>
              <a:latin typeface="Bierstadt"/>
            </a:endParaRPr>
          </a:p>
        </p:txBody>
      </p:sp>
      <p:pic>
        <p:nvPicPr>
          <p:cNvPr id="8" name="Picture 7" descr="A graph of blue rectangular bars&#10;&#10;AI-generated content may be incorrect.">
            <a:extLst>
              <a:ext uri="{FF2B5EF4-FFF2-40B4-BE49-F238E27FC236}">
                <a16:creationId xmlns:a16="http://schemas.microsoft.com/office/drawing/2014/main" id="{62A7C737-4E96-9CEF-42AB-9B88DE14FF52}"/>
              </a:ext>
            </a:extLst>
          </p:cNvPr>
          <p:cNvPicPr>
            <a:picLocks noChangeAspect="1"/>
          </p:cNvPicPr>
          <p:nvPr/>
        </p:nvPicPr>
        <p:blipFill>
          <a:blip r:embed="rId3"/>
          <a:stretch>
            <a:fillRect/>
          </a:stretch>
        </p:blipFill>
        <p:spPr>
          <a:xfrm>
            <a:off x="29250" y="2568000"/>
            <a:ext cx="6043500" cy="3450000"/>
          </a:xfrm>
          <a:prstGeom prst="rect">
            <a:avLst/>
          </a:prstGeom>
        </p:spPr>
      </p:pic>
    </p:spTree>
    <p:extLst>
      <p:ext uri="{BB962C8B-B14F-4D97-AF65-F5344CB8AC3E}">
        <p14:creationId xmlns:p14="http://schemas.microsoft.com/office/powerpoint/2010/main" val="37675351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91641-D9E2-B21C-D539-B5431028AC48}"/>
              </a:ext>
            </a:extLst>
          </p:cNvPr>
          <p:cNvSpPr>
            <a:spLocks noGrp="1"/>
          </p:cNvSpPr>
          <p:nvPr>
            <p:ph type="title"/>
          </p:nvPr>
        </p:nvSpPr>
        <p:spPr>
          <a:xfrm>
            <a:off x="1234635" y="98400"/>
            <a:ext cx="9623265" cy="785592"/>
          </a:xfrm>
        </p:spPr>
        <p:txBody>
          <a:bodyPr/>
          <a:lstStyle/>
          <a:p>
            <a:r>
              <a:rPr lang="en-US" sz="3600">
                <a:latin typeface="Lucida Bright"/>
              </a:rPr>
              <a:t>GSEA </a:t>
            </a:r>
            <a:r>
              <a:rPr lang="en-US" sz="3600" err="1">
                <a:latin typeface="Lucida Bright"/>
              </a:rPr>
              <a:t>REsults</a:t>
            </a:r>
            <a:r>
              <a:rPr lang="en-US" sz="3600">
                <a:latin typeface="Lucida Bright"/>
              </a:rPr>
              <a:t> visualization Cont.</a:t>
            </a:r>
          </a:p>
          <a:p>
            <a:endParaRPr lang="en-US"/>
          </a:p>
        </p:txBody>
      </p:sp>
      <p:pic>
        <p:nvPicPr>
          <p:cNvPr id="4" name="Picture 3">
            <a:extLst>
              <a:ext uri="{FF2B5EF4-FFF2-40B4-BE49-F238E27FC236}">
                <a16:creationId xmlns:a16="http://schemas.microsoft.com/office/drawing/2014/main" id="{DC7B8376-A935-2698-E70E-E33BADD58DFF}"/>
              </a:ext>
            </a:extLst>
          </p:cNvPr>
          <p:cNvPicPr>
            <a:picLocks noChangeAspect="1"/>
          </p:cNvPicPr>
          <p:nvPr/>
        </p:nvPicPr>
        <p:blipFill>
          <a:blip r:embed="rId2"/>
          <a:stretch>
            <a:fillRect/>
          </a:stretch>
        </p:blipFill>
        <p:spPr>
          <a:xfrm>
            <a:off x="184785" y="1965960"/>
            <a:ext cx="5718810" cy="4130040"/>
          </a:xfrm>
          <a:prstGeom prst="rect">
            <a:avLst/>
          </a:prstGeom>
        </p:spPr>
      </p:pic>
      <p:pic>
        <p:nvPicPr>
          <p:cNvPr id="5" name="Picture 4" descr="A graph of a number of patients&#10;&#10;AI-generated content may be incorrect.">
            <a:extLst>
              <a:ext uri="{FF2B5EF4-FFF2-40B4-BE49-F238E27FC236}">
                <a16:creationId xmlns:a16="http://schemas.microsoft.com/office/drawing/2014/main" id="{F2D667E2-8CB5-E726-5044-0EE94AF66E6B}"/>
              </a:ext>
            </a:extLst>
          </p:cNvPr>
          <p:cNvPicPr>
            <a:picLocks noChangeAspect="1"/>
          </p:cNvPicPr>
          <p:nvPr/>
        </p:nvPicPr>
        <p:blipFill>
          <a:blip r:embed="rId3"/>
          <a:stretch>
            <a:fillRect/>
          </a:stretch>
        </p:blipFill>
        <p:spPr>
          <a:xfrm>
            <a:off x="5907405" y="883920"/>
            <a:ext cx="5871210" cy="4251960"/>
          </a:xfrm>
          <a:prstGeom prst="rect">
            <a:avLst/>
          </a:prstGeom>
        </p:spPr>
      </p:pic>
      <p:sp>
        <p:nvSpPr>
          <p:cNvPr id="6" name="TextBox 5">
            <a:extLst>
              <a:ext uri="{FF2B5EF4-FFF2-40B4-BE49-F238E27FC236}">
                <a16:creationId xmlns:a16="http://schemas.microsoft.com/office/drawing/2014/main" id="{AD5C9123-ADDD-127D-B35C-C8D7569A5137}"/>
              </a:ext>
            </a:extLst>
          </p:cNvPr>
          <p:cNvSpPr txBox="1"/>
          <p:nvPr/>
        </p:nvSpPr>
        <p:spPr>
          <a:xfrm>
            <a:off x="828000" y="1692000"/>
            <a:ext cx="4896000"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solidFill>
                  <a:srgbClr val="EE3B87"/>
                </a:solidFill>
                <a:highlight>
                  <a:srgbClr val="FAF1F5"/>
                </a:highlight>
                <a:latin typeface="Bierstadt"/>
              </a:rPr>
              <a:t>Figure 6. Top 10 Downregulated KEGG-Legacy Pathways from GSEA</a:t>
            </a:r>
            <a:endParaRPr lang="en-US" sz="1200">
              <a:latin typeface="Bierstadt"/>
            </a:endParaRPr>
          </a:p>
          <a:p>
            <a:pPr algn="l"/>
            <a:endParaRPr lang="en-US"/>
          </a:p>
        </p:txBody>
      </p:sp>
      <p:sp>
        <p:nvSpPr>
          <p:cNvPr id="7" name="TextBox 6">
            <a:extLst>
              <a:ext uri="{FF2B5EF4-FFF2-40B4-BE49-F238E27FC236}">
                <a16:creationId xmlns:a16="http://schemas.microsoft.com/office/drawing/2014/main" id="{314CF202-1581-D7A6-7E24-4EE587BA95ED}"/>
              </a:ext>
            </a:extLst>
          </p:cNvPr>
          <p:cNvSpPr txBox="1"/>
          <p:nvPr/>
        </p:nvSpPr>
        <p:spPr>
          <a:xfrm>
            <a:off x="6564000" y="5136000"/>
            <a:ext cx="5124000"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solidFill>
                  <a:srgbClr val="EE3B87"/>
                </a:solidFill>
                <a:highlight>
                  <a:srgbClr val="FAF1F5"/>
                </a:highlight>
                <a:latin typeface="Bierstadt"/>
              </a:rPr>
              <a:t>Figure 7. Top 10 Upregulated KEGG-Legacy Pathways from GSEA</a:t>
            </a:r>
            <a:endParaRPr lang="en-US" sz="1200">
              <a:latin typeface="Bierstadt"/>
            </a:endParaRPr>
          </a:p>
          <a:p>
            <a:pPr algn="l"/>
            <a:endParaRPr lang="en-US"/>
          </a:p>
        </p:txBody>
      </p:sp>
    </p:spTree>
    <p:extLst>
      <p:ext uri="{BB962C8B-B14F-4D97-AF65-F5344CB8AC3E}">
        <p14:creationId xmlns:p14="http://schemas.microsoft.com/office/powerpoint/2010/main" val="13794881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BD87C-2BCB-617A-1F6C-E761A6F28A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6E020F-A3EA-866A-F391-A1757D8E192E}"/>
              </a:ext>
            </a:extLst>
          </p:cNvPr>
          <p:cNvSpPr>
            <a:spLocks noGrp="1"/>
          </p:cNvSpPr>
          <p:nvPr>
            <p:ph type="title"/>
          </p:nvPr>
        </p:nvSpPr>
        <p:spPr>
          <a:xfrm>
            <a:off x="1234635" y="98400"/>
            <a:ext cx="9623265" cy="785592"/>
          </a:xfrm>
        </p:spPr>
        <p:txBody>
          <a:bodyPr/>
          <a:lstStyle/>
          <a:p>
            <a:r>
              <a:rPr lang="en-US" sz="3600">
                <a:latin typeface="Lucida Bright"/>
              </a:rPr>
              <a:t>GSEA </a:t>
            </a:r>
            <a:r>
              <a:rPr lang="en-US" sz="3600" err="1">
                <a:latin typeface="Lucida Bright"/>
              </a:rPr>
              <a:t>REsults</a:t>
            </a:r>
            <a:r>
              <a:rPr lang="en-US" sz="3600">
                <a:latin typeface="Lucida Bright"/>
              </a:rPr>
              <a:t> visualization Cont.</a:t>
            </a:r>
          </a:p>
          <a:p>
            <a:endParaRPr lang="en-US"/>
          </a:p>
        </p:txBody>
      </p:sp>
      <p:pic>
        <p:nvPicPr>
          <p:cNvPr id="3" name="Picture 2" descr="A screenshot of a computer&#10;&#10;AI-generated content may be incorrect.">
            <a:extLst>
              <a:ext uri="{FF2B5EF4-FFF2-40B4-BE49-F238E27FC236}">
                <a16:creationId xmlns:a16="http://schemas.microsoft.com/office/drawing/2014/main" id="{135DBD59-EA6A-81FD-874C-A947EE9BDF39}"/>
              </a:ext>
            </a:extLst>
          </p:cNvPr>
          <p:cNvPicPr>
            <a:picLocks noChangeAspect="1"/>
          </p:cNvPicPr>
          <p:nvPr/>
        </p:nvPicPr>
        <p:blipFill>
          <a:blip r:embed="rId2"/>
          <a:stretch>
            <a:fillRect/>
          </a:stretch>
        </p:blipFill>
        <p:spPr>
          <a:xfrm>
            <a:off x="169545" y="1996440"/>
            <a:ext cx="5756910" cy="4099560"/>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7190131B-B36E-B3C9-0FF5-966C50588E59}"/>
              </a:ext>
            </a:extLst>
          </p:cNvPr>
          <p:cNvPicPr>
            <a:picLocks noChangeAspect="1"/>
          </p:cNvPicPr>
          <p:nvPr/>
        </p:nvPicPr>
        <p:blipFill>
          <a:blip r:embed="rId3"/>
          <a:stretch>
            <a:fillRect/>
          </a:stretch>
        </p:blipFill>
        <p:spPr>
          <a:xfrm>
            <a:off x="5808345" y="769620"/>
            <a:ext cx="5634990" cy="4091940"/>
          </a:xfrm>
          <a:prstGeom prst="rect">
            <a:avLst/>
          </a:prstGeom>
        </p:spPr>
      </p:pic>
      <p:sp>
        <p:nvSpPr>
          <p:cNvPr id="7" name="TextBox 6">
            <a:extLst>
              <a:ext uri="{FF2B5EF4-FFF2-40B4-BE49-F238E27FC236}">
                <a16:creationId xmlns:a16="http://schemas.microsoft.com/office/drawing/2014/main" id="{2A32B23B-2C7F-B62C-3354-73B69FC42E5F}"/>
              </a:ext>
            </a:extLst>
          </p:cNvPr>
          <p:cNvSpPr txBox="1"/>
          <p:nvPr/>
        </p:nvSpPr>
        <p:spPr>
          <a:xfrm>
            <a:off x="660000" y="1704000"/>
            <a:ext cx="5142000"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solidFill>
                  <a:srgbClr val="EE3B87"/>
                </a:solidFill>
                <a:highlight>
                  <a:srgbClr val="FAF1F5"/>
                </a:highlight>
                <a:latin typeface="Bierstadt"/>
              </a:rPr>
              <a:t>Figure 8. Top 10 Downregulated KEGG-Medicus Pathways from GSEA</a:t>
            </a:r>
            <a:endParaRPr lang="en-US" sz="1200">
              <a:latin typeface="Bierstadt"/>
            </a:endParaRPr>
          </a:p>
          <a:p>
            <a:pPr algn="l"/>
            <a:endParaRPr lang="en-US"/>
          </a:p>
        </p:txBody>
      </p:sp>
      <p:sp>
        <p:nvSpPr>
          <p:cNvPr id="8" name="TextBox 7">
            <a:extLst>
              <a:ext uri="{FF2B5EF4-FFF2-40B4-BE49-F238E27FC236}">
                <a16:creationId xmlns:a16="http://schemas.microsoft.com/office/drawing/2014/main" id="{4D63E67B-3DCD-4DA6-BD25-7D566B8C5151}"/>
              </a:ext>
            </a:extLst>
          </p:cNvPr>
          <p:cNvSpPr txBox="1"/>
          <p:nvPr/>
        </p:nvSpPr>
        <p:spPr>
          <a:xfrm>
            <a:off x="6552000" y="4860000"/>
            <a:ext cx="5040000"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n-US" sz="1200" b="1" baseline="0">
                <a:solidFill>
                  <a:srgbClr val="EE3B87"/>
                </a:solidFill>
                <a:highlight>
                  <a:srgbClr val="FAF1F5"/>
                </a:highlight>
                <a:latin typeface="Bierstadt"/>
                <a:ea typeface="Segoe UI"/>
                <a:cs typeface="Segoe UI"/>
              </a:rPr>
              <a:t>Figure </a:t>
            </a:r>
            <a:r>
              <a:rPr lang="en-US" sz="1200" b="1">
                <a:solidFill>
                  <a:srgbClr val="EE3B87"/>
                </a:solidFill>
                <a:highlight>
                  <a:srgbClr val="FAF1F5"/>
                </a:highlight>
                <a:latin typeface="Bierstadt"/>
                <a:ea typeface="Segoe UI"/>
                <a:cs typeface="Segoe UI"/>
              </a:rPr>
              <a:t>9</a:t>
            </a:r>
            <a:r>
              <a:rPr lang="en-US" sz="1200" b="1" baseline="0">
                <a:solidFill>
                  <a:srgbClr val="EE3B87"/>
                </a:solidFill>
                <a:highlight>
                  <a:srgbClr val="FAF1F5"/>
                </a:highlight>
                <a:latin typeface="Bierstadt"/>
                <a:ea typeface="Segoe UI"/>
                <a:cs typeface="Segoe UI"/>
              </a:rPr>
              <a:t>. Top 10 </a:t>
            </a:r>
            <a:r>
              <a:rPr lang="en-US" sz="1200" b="1">
                <a:solidFill>
                  <a:srgbClr val="EE3B87"/>
                </a:solidFill>
                <a:highlight>
                  <a:srgbClr val="FAF1F5"/>
                </a:highlight>
                <a:latin typeface="Bierstadt"/>
                <a:ea typeface="Segoe UI"/>
                <a:cs typeface="Segoe UI"/>
              </a:rPr>
              <a:t>Upregulated</a:t>
            </a:r>
            <a:r>
              <a:rPr lang="en-US" sz="1200" b="1" baseline="0">
                <a:solidFill>
                  <a:srgbClr val="EE3B87"/>
                </a:solidFill>
                <a:highlight>
                  <a:srgbClr val="FAF1F5"/>
                </a:highlight>
                <a:latin typeface="Bierstadt"/>
                <a:ea typeface="Segoe UI"/>
                <a:cs typeface="Segoe UI"/>
              </a:rPr>
              <a:t> KEGG-Medicus Pathways from GSEA</a:t>
            </a:r>
            <a:r>
              <a:rPr lang="en-US" sz="1200">
                <a:latin typeface="Bierstadt"/>
                <a:ea typeface="Segoe UI"/>
                <a:cs typeface="Segoe UI"/>
              </a:rPr>
              <a:t>​</a:t>
            </a:r>
          </a:p>
          <a:p>
            <a:pPr rtl="0"/>
            <a:r>
              <a:rPr lang="en-US" sz="1800">
                <a:latin typeface="Calisto MT"/>
                <a:ea typeface="Segoe UI"/>
                <a:cs typeface="Segoe UI"/>
              </a:rPr>
              <a:t>​</a:t>
            </a:r>
            <a:endParaRPr lang="en-US"/>
          </a:p>
        </p:txBody>
      </p:sp>
    </p:spTree>
    <p:extLst>
      <p:ext uri="{BB962C8B-B14F-4D97-AF65-F5344CB8AC3E}">
        <p14:creationId xmlns:p14="http://schemas.microsoft.com/office/powerpoint/2010/main" val="1304565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406CD-A75E-0BF9-6B73-DDE9E21172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AF55A8-C556-4C2D-4592-7F3F5A045CFA}"/>
              </a:ext>
            </a:extLst>
          </p:cNvPr>
          <p:cNvSpPr>
            <a:spLocks noGrp="1"/>
          </p:cNvSpPr>
          <p:nvPr>
            <p:ph type="title"/>
          </p:nvPr>
        </p:nvSpPr>
        <p:spPr>
          <a:xfrm>
            <a:off x="1234635" y="98400"/>
            <a:ext cx="9623265" cy="785592"/>
          </a:xfrm>
        </p:spPr>
        <p:txBody>
          <a:bodyPr/>
          <a:lstStyle/>
          <a:p>
            <a:r>
              <a:rPr lang="en-US" sz="3600">
                <a:latin typeface="Lucida Bright"/>
              </a:rPr>
              <a:t>GSEA </a:t>
            </a:r>
            <a:r>
              <a:rPr lang="en-US" sz="3600" err="1">
                <a:latin typeface="Lucida Bright"/>
              </a:rPr>
              <a:t>REsults</a:t>
            </a:r>
            <a:r>
              <a:rPr lang="en-US" sz="3600">
                <a:latin typeface="Lucida Bright"/>
              </a:rPr>
              <a:t> visualization Cont.</a:t>
            </a:r>
          </a:p>
          <a:p>
            <a:endParaRPr lang="en-US"/>
          </a:p>
        </p:txBody>
      </p:sp>
      <p:pic>
        <p:nvPicPr>
          <p:cNvPr id="4" name="Picture 3" descr="A screenshot of a graph&#10;&#10;AI-generated content may be incorrect.">
            <a:extLst>
              <a:ext uri="{FF2B5EF4-FFF2-40B4-BE49-F238E27FC236}">
                <a16:creationId xmlns:a16="http://schemas.microsoft.com/office/drawing/2014/main" id="{49B741B3-BC89-0551-724F-7A44954B097A}"/>
              </a:ext>
            </a:extLst>
          </p:cNvPr>
          <p:cNvPicPr>
            <a:picLocks noChangeAspect="1"/>
          </p:cNvPicPr>
          <p:nvPr/>
        </p:nvPicPr>
        <p:blipFill>
          <a:blip r:embed="rId2"/>
          <a:stretch>
            <a:fillRect/>
          </a:stretch>
        </p:blipFill>
        <p:spPr>
          <a:xfrm>
            <a:off x="403320" y="871680"/>
            <a:ext cx="7003320" cy="5262420"/>
          </a:xfrm>
          <a:prstGeom prst="rect">
            <a:avLst/>
          </a:prstGeom>
        </p:spPr>
      </p:pic>
      <p:sp>
        <p:nvSpPr>
          <p:cNvPr id="3" name="TextBox 2">
            <a:extLst>
              <a:ext uri="{FF2B5EF4-FFF2-40B4-BE49-F238E27FC236}">
                <a16:creationId xmlns:a16="http://schemas.microsoft.com/office/drawing/2014/main" id="{53A57F97-BDDA-91B1-A453-300A4B40C571}"/>
              </a:ext>
            </a:extLst>
          </p:cNvPr>
          <p:cNvSpPr txBox="1"/>
          <p:nvPr/>
        </p:nvSpPr>
        <p:spPr>
          <a:xfrm>
            <a:off x="804000" y="5532000"/>
            <a:ext cx="4800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a:solidFill>
                  <a:srgbClr val="EE3B87"/>
                </a:solidFill>
                <a:highlight>
                  <a:srgbClr val="FAF1F5"/>
                </a:highlight>
                <a:latin typeface="Bierstadt"/>
              </a:rPr>
              <a:t>Figure 10. DEG Heatmap for Gene Dysregulation in Luminal A IDC Samples Compared to Unaffected Breast Tissue Samples</a:t>
            </a:r>
            <a:endParaRPr lang="en-US" sz="1200" dirty="0">
              <a:latin typeface="Bierstadt"/>
            </a:endParaRPr>
          </a:p>
          <a:p>
            <a:pPr algn="ctr"/>
            <a:endParaRPr lang="en-US" dirty="0"/>
          </a:p>
        </p:txBody>
      </p:sp>
    </p:spTree>
    <p:extLst>
      <p:ext uri="{BB962C8B-B14F-4D97-AF65-F5344CB8AC3E}">
        <p14:creationId xmlns:p14="http://schemas.microsoft.com/office/powerpoint/2010/main" val="2182891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52601-EE96-ED25-A9A0-71D93EFE35AA}"/>
              </a:ext>
            </a:extLst>
          </p:cNvPr>
          <p:cNvSpPr>
            <a:spLocks noGrp="1"/>
          </p:cNvSpPr>
          <p:nvPr>
            <p:ph type="title"/>
          </p:nvPr>
        </p:nvSpPr>
        <p:spPr>
          <a:xfrm>
            <a:off x="747321" y="875641"/>
            <a:ext cx="3107265" cy="839592"/>
          </a:xfrm>
        </p:spPr>
        <p:txBody>
          <a:bodyPr/>
          <a:lstStyle/>
          <a:p>
            <a:r>
              <a:rPr lang="en-US"/>
              <a:t>conclusion</a:t>
            </a:r>
          </a:p>
        </p:txBody>
      </p:sp>
      <p:sp>
        <p:nvSpPr>
          <p:cNvPr id="3" name="Content Placeholder 2">
            <a:extLst>
              <a:ext uri="{FF2B5EF4-FFF2-40B4-BE49-F238E27FC236}">
                <a16:creationId xmlns:a16="http://schemas.microsoft.com/office/drawing/2014/main" id="{1D42F9B1-16B9-2EA1-E3A0-0556E87D6924}"/>
              </a:ext>
            </a:extLst>
          </p:cNvPr>
          <p:cNvSpPr>
            <a:spLocks noGrp="1"/>
          </p:cNvSpPr>
          <p:nvPr>
            <p:ph idx="1"/>
          </p:nvPr>
        </p:nvSpPr>
        <p:spPr>
          <a:xfrm>
            <a:off x="478197" y="1806109"/>
            <a:ext cx="11243265" cy="4699896"/>
          </a:xfrm>
        </p:spPr>
        <p:txBody>
          <a:bodyPr vert="horz" lIns="91440" tIns="45720" rIns="91440" bIns="45720" rtlCol="0" anchor="t">
            <a:noAutofit/>
          </a:bodyPr>
          <a:lstStyle/>
          <a:p>
            <a:r>
              <a:rPr lang="en-US" sz="1800" dirty="0"/>
              <a:t>Upregulated Pathways consistent with literature review and proposal hypothesis, found enrichment in key pathways such as cell cycle, DNA replication, and estrogen response pathways.</a:t>
            </a:r>
          </a:p>
          <a:p>
            <a:r>
              <a:rPr lang="en-US" sz="1800" dirty="0"/>
              <a:t>Key Downregulated Pathways: </a:t>
            </a:r>
            <a:r>
              <a:rPr lang="en-US" sz="1800" b="1" dirty="0"/>
              <a:t>Cholesterol Homeostasis Pathway, Reactive Oxygen Species Pathway, Interferon Gamma Pathway, Complement Pathway, and Coagulation Pathway.</a:t>
            </a:r>
          </a:p>
          <a:p>
            <a:r>
              <a:rPr lang="en-US" sz="1800" dirty="0"/>
              <a:t>The downregulated pathway findings are significant, because suppression of cholesterol homeostasis suggests that a tumors redefine the role of cholesterol in the tumor environment. Furthermore, the downregulation of ROS and IFN-gamma pathways suggest Luminal A IDC tumors optimize for survival by minimizing oxidative stress and evading normal immune function.</a:t>
            </a:r>
          </a:p>
          <a:p>
            <a:r>
              <a:rPr lang="en-US" sz="1800" dirty="0">
                <a:ea typeface="+mn-lt"/>
                <a:cs typeface="+mn-lt"/>
              </a:rPr>
              <a:t>This pipeline successfully characterized Luminal A IDC as a subtype defined not only by hormone sensitivity, but by active suppression of homeostatic and immune defense mechanisms, supporting the classification of Luminal A IDC as an immunologically "cold" subtype.</a:t>
            </a:r>
          </a:p>
          <a:p>
            <a:endParaRPr lang="en-US" sz="1800" b="1" dirty="0"/>
          </a:p>
          <a:p>
            <a:endParaRPr lang="en-US" sz="1800" dirty="0"/>
          </a:p>
        </p:txBody>
      </p:sp>
    </p:spTree>
    <p:extLst>
      <p:ext uri="{BB962C8B-B14F-4D97-AF65-F5344CB8AC3E}">
        <p14:creationId xmlns:p14="http://schemas.microsoft.com/office/powerpoint/2010/main" val="24120261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5685A-DC79-DC8B-5696-5988E8B769C2}"/>
              </a:ext>
            </a:extLst>
          </p:cNvPr>
          <p:cNvSpPr>
            <a:spLocks noGrp="1"/>
          </p:cNvSpPr>
          <p:nvPr>
            <p:ph type="title"/>
          </p:nvPr>
        </p:nvSpPr>
        <p:spPr/>
        <p:txBody>
          <a:bodyPr/>
          <a:lstStyle/>
          <a:p>
            <a:r>
              <a:rPr lang="en-US"/>
              <a:t>Future direction</a:t>
            </a:r>
          </a:p>
        </p:txBody>
      </p:sp>
      <p:sp>
        <p:nvSpPr>
          <p:cNvPr id="3" name="Content Placeholder 2">
            <a:extLst>
              <a:ext uri="{FF2B5EF4-FFF2-40B4-BE49-F238E27FC236}">
                <a16:creationId xmlns:a16="http://schemas.microsoft.com/office/drawing/2014/main" id="{1D2C8E9B-E5C6-595C-B5BD-4DF00C5D073E}"/>
              </a:ext>
            </a:extLst>
          </p:cNvPr>
          <p:cNvSpPr>
            <a:spLocks noGrp="1"/>
          </p:cNvSpPr>
          <p:nvPr>
            <p:ph idx="1"/>
          </p:nvPr>
        </p:nvSpPr>
        <p:spPr>
          <a:xfrm>
            <a:off x="483717" y="1938329"/>
            <a:ext cx="11230782" cy="4485208"/>
          </a:xfrm>
        </p:spPr>
        <p:txBody>
          <a:bodyPr vert="horz" lIns="91440" tIns="45720" rIns="91440" bIns="45720" rtlCol="0" anchor="t">
            <a:normAutofit/>
          </a:bodyPr>
          <a:lstStyle/>
          <a:p>
            <a:r>
              <a:rPr lang="en-US" sz="1800" dirty="0"/>
              <a:t>Validating and expand the findings of this project </a:t>
            </a:r>
            <a:r>
              <a:rPr lang="en-US" sz="1800" b="1" dirty="0"/>
              <a:t>using other RNA-Seq Breast Cancer Tumor Gene Expression Databases </a:t>
            </a:r>
            <a:r>
              <a:rPr lang="en-US" sz="1800" dirty="0"/>
              <a:t>(METABRIC, GEO, ICGC) for Single Cell RNA-Seq, Spatial Transcriptomics and </a:t>
            </a:r>
            <a:r>
              <a:rPr lang="en-US" sz="1800" err="1"/>
              <a:t>Proteogenomics</a:t>
            </a:r>
            <a:r>
              <a:rPr lang="en-US" sz="1800" dirty="0"/>
              <a:t>.</a:t>
            </a:r>
          </a:p>
          <a:p>
            <a:r>
              <a:rPr lang="en-US" sz="1800" dirty="0"/>
              <a:t>Straying from the Luminal A Subtype to classify pathway and immune dysregulation across the </a:t>
            </a:r>
            <a:r>
              <a:rPr lang="en-US" sz="1800" b="1" dirty="0"/>
              <a:t>more lethal subtypes of breast cancer.</a:t>
            </a:r>
          </a:p>
          <a:p>
            <a:r>
              <a:rPr lang="en-US" sz="1800" dirty="0"/>
              <a:t>Continuing the literature review and </a:t>
            </a:r>
            <a:r>
              <a:rPr lang="en-US" sz="1800" b="1" dirty="0"/>
              <a:t>studying drug interactions and drug delivery systems</a:t>
            </a:r>
            <a:r>
              <a:rPr lang="en-US" sz="1800" dirty="0"/>
              <a:t> to propose more effective treatments while reducing risk and invasive approaches.</a:t>
            </a:r>
          </a:p>
          <a:p>
            <a:r>
              <a:rPr lang="en-US" sz="1800" dirty="0"/>
              <a:t>Continuing pipeline development using more clinical phenotype information to classify DEGs and pathway dysregulation in different types of patients (faster recurrence, early death) with goal of classifying how transcriptomic and proteomic factors affect life span and recurrence rates using a machine learning model.</a:t>
            </a:r>
          </a:p>
          <a:p>
            <a:r>
              <a:rPr lang="en-US" sz="1800" dirty="0"/>
              <a:t>Focus on reproducibility and implementation of git into my pipeline/thesis.</a:t>
            </a:r>
          </a:p>
          <a:p>
            <a:pPr marL="0" indent="0">
              <a:buNone/>
            </a:pPr>
            <a:endParaRPr lang="en-US" sz="1800" dirty="0"/>
          </a:p>
        </p:txBody>
      </p:sp>
    </p:spTree>
    <p:extLst>
      <p:ext uri="{BB962C8B-B14F-4D97-AF65-F5344CB8AC3E}">
        <p14:creationId xmlns:p14="http://schemas.microsoft.com/office/powerpoint/2010/main" val="27208478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7C261-4A4C-64DC-E8FC-ED0FAFCF1009}"/>
              </a:ext>
            </a:extLst>
          </p:cNvPr>
          <p:cNvSpPr>
            <a:spLocks noGrp="1"/>
          </p:cNvSpPr>
          <p:nvPr>
            <p:ph type="title"/>
          </p:nvPr>
        </p:nvSpPr>
        <p:spPr/>
        <p:txBody>
          <a:bodyPr/>
          <a:lstStyle/>
          <a:p>
            <a:r>
              <a:rPr lang="en-US"/>
              <a:t>References</a:t>
            </a:r>
          </a:p>
        </p:txBody>
      </p:sp>
      <p:sp>
        <p:nvSpPr>
          <p:cNvPr id="3" name="Content Placeholder 2">
            <a:extLst>
              <a:ext uri="{FF2B5EF4-FFF2-40B4-BE49-F238E27FC236}">
                <a16:creationId xmlns:a16="http://schemas.microsoft.com/office/drawing/2014/main" id="{44D4B881-3BA3-8746-11A8-A69D4ED64E77}"/>
              </a:ext>
            </a:extLst>
          </p:cNvPr>
          <p:cNvSpPr>
            <a:spLocks noGrp="1"/>
          </p:cNvSpPr>
          <p:nvPr>
            <p:ph idx="1"/>
          </p:nvPr>
        </p:nvSpPr>
        <p:spPr/>
        <p:txBody>
          <a:bodyPr vert="horz" lIns="91440" tIns="45720" rIns="91440" bIns="45720" rtlCol="0" anchor="t">
            <a:normAutofit/>
          </a:bodyPr>
          <a:lstStyle/>
          <a:p>
            <a:r>
              <a:rPr lang="en-US" sz="1800" u="sng" dirty="0">
                <a:latin typeface="Calibri Light"/>
                <a:ea typeface="Calibri Light"/>
                <a:cs typeface="Times New Roman"/>
                <a:hlinkClick r:id="rId2"/>
              </a:rPr>
              <a:t>https://www.cancer.org/content/dam/cancer-org/research/cancer-facts-and-statistics/breast-cancer-facts-and-figures/2024/breast-cancer-facts-and-figures-2024.pdf</a:t>
            </a:r>
            <a:br>
              <a:rPr lang="en-US" sz="1800" u="sng" dirty="0">
                <a:latin typeface="Calibri Light"/>
                <a:cs typeface="Times New Roman"/>
              </a:rPr>
            </a:br>
            <a:r>
              <a:rPr lang="en-US" sz="1800" u="sng" dirty="0">
                <a:latin typeface="Calibri Light"/>
                <a:ea typeface="Calibri Light"/>
                <a:cs typeface="Times New Roman"/>
                <a:hlinkClick r:id="rId3"/>
              </a:rPr>
              <a:t>https://pmc.ncbi.nlm.nih.gov/articles/PMC8266316/</a:t>
            </a:r>
            <a:br>
              <a:rPr lang="en-US" sz="1800" u="sng" dirty="0">
                <a:latin typeface="Calibri Light"/>
                <a:cs typeface="Times New Roman"/>
              </a:rPr>
            </a:br>
            <a:r>
              <a:rPr lang="en-US" sz="1800" u="sng" dirty="0">
                <a:latin typeface="Calibri Light"/>
                <a:ea typeface="Calibri Light"/>
                <a:cs typeface="Times New Roman"/>
                <a:hlinkClick r:id="rId4"/>
              </a:rPr>
              <a:t>https://www.sciencedirect.com/science/article/pii/S2666979X21000835</a:t>
            </a:r>
            <a:br>
              <a:rPr lang="en-US" sz="1800" u="sng" dirty="0">
                <a:latin typeface="Calibri Light"/>
                <a:cs typeface="Times New Roman"/>
              </a:rPr>
            </a:br>
            <a:r>
              <a:rPr lang="en-US" sz="1800" u="sng" dirty="0">
                <a:latin typeface="Calibri Light"/>
                <a:ea typeface="Calibri Light"/>
                <a:cs typeface="Times New Roman"/>
                <a:hlinkClick r:id="rId5"/>
              </a:rPr>
              <a:t>https://link.springer.com/article/10.1186/1755-8794-5-44</a:t>
            </a:r>
            <a:br>
              <a:rPr lang="en-US" sz="1800" u="sng" dirty="0">
                <a:latin typeface="Calibri Light"/>
                <a:cs typeface="Times New Roman"/>
              </a:rPr>
            </a:br>
            <a:r>
              <a:rPr lang="en-US" sz="1800" dirty="0">
                <a:latin typeface="Calibri Light"/>
                <a:ea typeface="+mn-lt"/>
                <a:cs typeface="+mn-lt"/>
                <a:hlinkClick r:id="rId6"/>
              </a:rPr>
              <a:t>https://www.cancerimagingarchive.net/collection/tcga-brca/</a:t>
            </a:r>
            <a:br>
              <a:rPr lang="en-US" sz="1800" dirty="0">
                <a:latin typeface="Calibri Light"/>
                <a:ea typeface="+mn-lt"/>
                <a:cs typeface="+mn-lt"/>
              </a:rPr>
            </a:br>
            <a:r>
              <a:rPr lang="en-US" sz="1800" dirty="0">
                <a:latin typeface="Calibri Light"/>
                <a:ea typeface="+mn-lt"/>
                <a:cs typeface="+mn-lt"/>
                <a:hlinkClick r:id="rId7"/>
              </a:rPr>
              <a:t>https://pmc.ncbi.nlm.nih.gov/articles/PMC12011706/</a:t>
            </a:r>
            <a:r>
              <a:rPr lang="en-US" sz="1800" dirty="0">
                <a:latin typeface="Calibri Light"/>
                <a:ea typeface="+mn-lt"/>
                <a:cs typeface="+mn-lt"/>
              </a:rPr>
              <a:t> </a:t>
            </a:r>
            <a:br>
              <a:rPr lang="en-US" sz="1800" dirty="0">
                <a:latin typeface="Calibri Light"/>
                <a:ea typeface="+mn-lt"/>
                <a:cs typeface="+mn-lt"/>
              </a:rPr>
            </a:br>
            <a:r>
              <a:rPr lang="en-US" sz="1800" dirty="0">
                <a:latin typeface="Calibri Light"/>
                <a:ea typeface="+mn-lt"/>
                <a:cs typeface="+mn-lt"/>
                <a:hlinkClick r:id="rId8"/>
              </a:rPr>
              <a:t>https://pubmed.ncbi.nlm.nih.gov/32026945/</a:t>
            </a:r>
            <a:r>
              <a:rPr lang="en-US" sz="1800" dirty="0">
                <a:latin typeface="Calibri Light"/>
                <a:ea typeface="+mn-lt"/>
                <a:cs typeface="+mn-lt"/>
              </a:rPr>
              <a:t> </a:t>
            </a:r>
            <a:endParaRPr lang="en-US" sz="1800">
              <a:latin typeface="Calibri Light"/>
              <a:ea typeface="Calibri Light"/>
              <a:cs typeface="Calibri Light"/>
            </a:endParaRPr>
          </a:p>
        </p:txBody>
      </p:sp>
    </p:spTree>
    <p:extLst>
      <p:ext uri="{BB962C8B-B14F-4D97-AF65-F5344CB8AC3E}">
        <p14:creationId xmlns:p14="http://schemas.microsoft.com/office/powerpoint/2010/main" val="22607107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96270-F0A1-9215-EB26-8028E06843D3}"/>
              </a:ext>
            </a:extLst>
          </p:cNvPr>
          <p:cNvSpPr>
            <a:spLocks noGrp="1"/>
          </p:cNvSpPr>
          <p:nvPr>
            <p:ph type="title"/>
          </p:nvPr>
        </p:nvSpPr>
        <p:spPr/>
        <p:txBody>
          <a:bodyPr>
            <a:normAutofit/>
          </a:bodyPr>
          <a:lstStyle/>
          <a:p>
            <a:r>
              <a:rPr lang="en-US" sz="3600" dirty="0">
                <a:latin typeface="Lucida Bright"/>
              </a:rPr>
              <a:t>Questions?</a:t>
            </a:r>
          </a:p>
        </p:txBody>
      </p:sp>
      <p:sp>
        <p:nvSpPr>
          <p:cNvPr id="4" name="TextBox 3">
            <a:extLst>
              <a:ext uri="{FF2B5EF4-FFF2-40B4-BE49-F238E27FC236}">
                <a16:creationId xmlns:a16="http://schemas.microsoft.com/office/drawing/2014/main" id="{2AACC3C9-51A3-7114-8A60-BAFA61ACE530}"/>
              </a:ext>
            </a:extLst>
          </p:cNvPr>
          <p:cNvSpPr txBox="1"/>
          <p:nvPr/>
        </p:nvSpPr>
        <p:spPr>
          <a:xfrm>
            <a:off x="804000" y="1728000"/>
            <a:ext cx="7800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hlinkClick r:id="rId2"/>
              </a:rPr>
              <a:t>https://github.com/trucinski-portfolio/BIOL-616-Final-Project</a:t>
            </a:r>
            <a:r>
              <a:rPr lang="en-US" dirty="0">
                <a:ea typeface="+mn-lt"/>
                <a:cs typeface="+mn-lt"/>
              </a:rPr>
              <a:t> </a:t>
            </a:r>
            <a:endParaRPr lang="en-US"/>
          </a:p>
        </p:txBody>
      </p:sp>
    </p:spTree>
    <p:extLst>
      <p:ext uri="{BB962C8B-B14F-4D97-AF65-F5344CB8AC3E}">
        <p14:creationId xmlns:p14="http://schemas.microsoft.com/office/powerpoint/2010/main" val="3683836992"/>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emplate>office theme</Template>
  <TotalTime>27</TotalTime>
  <Words>1233</Words>
  <Application>Microsoft Macintosh PowerPoint</Application>
  <PresentationFormat>Widescreen</PresentationFormat>
  <Paragraphs>85</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Arial,Sans-Serif</vt:lpstr>
      <vt:lpstr>Bierstadt</vt:lpstr>
      <vt:lpstr>Calibri Light</vt:lpstr>
      <vt:lpstr>Calisto MT</vt:lpstr>
      <vt:lpstr>Lucida Bright</vt:lpstr>
      <vt:lpstr>Univers Condensed</vt:lpstr>
      <vt:lpstr>ChronicleVTI</vt:lpstr>
      <vt:lpstr>Differential Gene Expression of Luminal A Invasive Ductal Carcinoma in Comparison to Unaffected Breast Tissue</vt:lpstr>
      <vt:lpstr>Significance</vt:lpstr>
      <vt:lpstr>Research Problem</vt:lpstr>
      <vt:lpstr>Literature Review and Limitations </vt:lpstr>
      <vt:lpstr>Final Pipeline Flowchart</vt:lpstr>
      <vt:lpstr>Differentially expressed genes Implementation</vt:lpstr>
      <vt:lpstr>Gene set &amp; Pathway enrichment analysis</vt:lpstr>
      <vt:lpstr>GSEA REsults visualization</vt:lpstr>
      <vt:lpstr>GSEA REsults visualization Cont. </vt:lpstr>
      <vt:lpstr>GSEA REsults visualization Cont. </vt:lpstr>
      <vt:lpstr>GSEA REsults visualization Cont. </vt:lpstr>
      <vt:lpstr>conclusion</vt:lpstr>
      <vt:lpstr>Future direction</vt:lpstr>
      <vt:lpstr>References</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Thomas Rucinski</cp:lastModifiedBy>
  <cp:revision>268</cp:revision>
  <dcterms:created xsi:type="dcterms:W3CDTF">2025-12-01T22:35:40Z</dcterms:created>
  <dcterms:modified xsi:type="dcterms:W3CDTF">2025-12-02T21:51:08Z</dcterms:modified>
</cp:coreProperties>
</file>